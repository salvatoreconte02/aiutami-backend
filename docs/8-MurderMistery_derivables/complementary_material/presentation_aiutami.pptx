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rimo" panose="020B0604020202020204" charset="0"/>
      <p:regular r:id="rId21"/>
    </p:embeddedFont>
    <p:embeddedFont>
      <p:font typeface="Open Sans 1" panose="020B0604020202020204" charset="0"/>
      <p:regular r:id="rId22"/>
    </p:embeddedFont>
    <p:embeddedFont>
      <p:font typeface="Open Sans 1 Bold" panose="020B0604020202020204" charset="0"/>
      <p:regular r:id="rId23"/>
    </p:embeddedFont>
    <p:embeddedFont>
      <p:font typeface="Open Sans 2" panose="020B0604020202020204" charset="0"/>
      <p:regular r:id="rId24"/>
    </p:embeddedFont>
    <p:embeddedFont>
      <p:font typeface="Open Sans 2 Bold" panose="020B0604020202020204" charset="0"/>
      <p:regular r:id="rId25"/>
    </p:embeddedFont>
    <p:embeddedFont>
      <p:font typeface="Poppins" panose="00000500000000000000" pitchFamily="2" charset="0"/>
      <p:regular r:id="rId26"/>
    </p:embeddedFont>
    <p:embeddedFont>
      <p:font typeface="Poppins Bold" panose="020B0604020202020204" charset="0"/>
      <p:regular r:id="rId27"/>
    </p:embeddedFont>
    <p:embeddedFont>
      <p:font typeface="TT Interphases Mono" panose="020B0604020202020204" charset="0"/>
      <p:regular r:id="rId28"/>
    </p:embeddedFont>
    <p:embeddedFont>
      <p:font typeface="TT Interphases Mono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29228" y="-2377339"/>
            <a:ext cx="14515899" cy="14515899"/>
          </a:xfrm>
          <a:custGeom>
            <a:avLst/>
            <a:gdLst/>
            <a:ahLst/>
            <a:cxnLst/>
            <a:rect l="l" t="t" r="r" b="b"/>
            <a:pathLst>
              <a:path w="14515899" h="14515899">
                <a:moveTo>
                  <a:pt x="0" y="0"/>
                </a:moveTo>
                <a:lnTo>
                  <a:pt x="14515898" y="0"/>
                </a:lnTo>
                <a:lnTo>
                  <a:pt x="14515898" y="14515898"/>
                </a:lnTo>
                <a:lnTo>
                  <a:pt x="0" y="14515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0121332" y="1239594"/>
            <a:ext cx="8166668" cy="8166668"/>
            <a:chOff x="0" y="0"/>
            <a:chExt cx="10888891" cy="10888891"/>
          </a:xfrm>
        </p:grpSpPr>
        <p:grpSp>
          <p:nvGrpSpPr>
            <p:cNvPr id="4" name="Group 4"/>
            <p:cNvGrpSpPr/>
            <p:nvPr/>
          </p:nvGrpSpPr>
          <p:grpSpPr>
            <a:xfrm>
              <a:off x="2396460" y="2396460"/>
              <a:ext cx="6095970" cy="6095970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94902"/>
                </a:srgbClr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7134" tIns="57134" rIns="57134" bIns="57134" rtlCol="0" anchor="ctr"/>
              <a:lstStyle/>
              <a:p>
                <a:pPr algn="ctr">
                  <a:lnSpc>
                    <a:spcPts val="2099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0" y="0"/>
              <a:ext cx="10888891" cy="10888891"/>
            </a:xfrm>
            <a:custGeom>
              <a:avLst/>
              <a:gdLst/>
              <a:ahLst/>
              <a:cxnLst/>
              <a:rect l="l" t="t" r="r" b="b"/>
              <a:pathLst>
                <a:path w="10888891" h="10888891">
                  <a:moveTo>
                    <a:pt x="0" y="0"/>
                  </a:moveTo>
                  <a:lnTo>
                    <a:pt x="10888891" y="0"/>
                  </a:lnTo>
                  <a:lnTo>
                    <a:pt x="10888891" y="10888891"/>
                  </a:lnTo>
                  <a:lnTo>
                    <a:pt x="0" y="10888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102767"/>
            <a:ext cx="1506050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AIutami</a:t>
            </a:r>
            <a:r>
              <a:rPr lang="en-US" sz="60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: a Vocal </a:t>
            </a:r>
            <a:r>
              <a:rPr lang="en-US" sz="6000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Multicontext</a:t>
            </a:r>
            <a:r>
              <a:rPr lang="en-US" sz="60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AIModerator</a:t>
            </a:r>
            <a:endParaRPr lang="en-US" sz="6000" b="1" dirty="0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-780067" y="2741067"/>
            <a:ext cx="12354079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Project: “Murder </a:t>
            </a:r>
            <a:r>
              <a:rPr lang="en-US" sz="39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Mistery</a:t>
            </a:r>
            <a:r>
              <a:rPr lang="en-US" sz="39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on the line</a:t>
            </a:r>
            <a:r>
              <a:rPr lang="en-US" sz="39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" y="5303878"/>
            <a:ext cx="7450382" cy="164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5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Simone Cosenza</a:t>
            </a:r>
          </a:p>
          <a:p>
            <a:pPr algn="l">
              <a:lnSpc>
                <a:spcPts val="4410"/>
              </a:lnSpc>
            </a:pPr>
            <a:r>
              <a:rPr lang="en-US" sz="35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Salvatore Pio Conte</a:t>
            </a:r>
          </a:p>
          <a:p>
            <a:pPr algn="l">
              <a:lnSpc>
                <a:spcPts val="4410"/>
              </a:lnSpc>
            </a:pPr>
            <a:r>
              <a:rPr lang="en-US" sz="35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Sara Imparato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1661" y="4759048"/>
            <a:ext cx="2095500" cy="54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Group 8: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204666" y="8642633"/>
            <a:ext cx="2976939" cy="1047441"/>
          </a:xfrm>
          <a:custGeom>
            <a:avLst/>
            <a:gdLst/>
            <a:ahLst/>
            <a:cxnLst/>
            <a:rect l="l" t="t" r="r" b="b"/>
            <a:pathLst>
              <a:path w="2976939" h="1047441">
                <a:moveTo>
                  <a:pt x="0" y="0"/>
                </a:moveTo>
                <a:lnTo>
                  <a:pt x="2976939" y="0"/>
                </a:lnTo>
                <a:lnTo>
                  <a:pt x="2976939" y="1047442"/>
                </a:lnTo>
                <a:lnTo>
                  <a:pt x="0" y="1047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1028700" y="8541787"/>
            <a:ext cx="4898563" cy="1249134"/>
          </a:xfrm>
          <a:custGeom>
            <a:avLst/>
            <a:gdLst/>
            <a:ahLst/>
            <a:cxnLst/>
            <a:rect l="l" t="t" r="r" b="b"/>
            <a:pathLst>
              <a:path w="4898563" h="1249134">
                <a:moveTo>
                  <a:pt x="0" y="0"/>
                </a:moveTo>
                <a:lnTo>
                  <a:pt x="4898563" y="0"/>
                </a:lnTo>
                <a:lnTo>
                  <a:pt x="4898563" y="1249134"/>
                </a:lnTo>
                <a:lnTo>
                  <a:pt x="0" y="1249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7780972" y="8988872"/>
            <a:ext cx="2726055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AUI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95325"/>
            <a:ext cx="18288000" cy="566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0"/>
              </a:lnSpc>
            </a:pPr>
            <a:r>
              <a:rPr lang="en-US" sz="35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UNG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7891960" y="-1315093"/>
            <a:ext cx="16561551" cy="16561551"/>
          </a:xfrm>
          <a:custGeom>
            <a:avLst/>
            <a:gdLst/>
            <a:ahLst/>
            <a:cxnLst/>
            <a:rect l="l" t="t" r="r" b="b"/>
            <a:pathLst>
              <a:path w="16561551" h="16561551">
                <a:moveTo>
                  <a:pt x="16561551" y="0"/>
                </a:moveTo>
                <a:lnTo>
                  <a:pt x="0" y="0"/>
                </a:lnTo>
                <a:lnTo>
                  <a:pt x="0" y="16561551"/>
                </a:lnTo>
                <a:lnTo>
                  <a:pt x="16561551" y="16561551"/>
                </a:lnTo>
                <a:lnTo>
                  <a:pt x="16561551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4014534"/>
            <a:chOff x="0" y="0"/>
            <a:chExt cx="2408296" cy="10573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1057326"/>
            </a:xfrm>
            <a:custGeom>
              <a:avLst/>
              <a:gdLst/>
              <a:ahLst/>
              <a:cxnLst/>
              <a:rect l="l" t="t" r="r" b="b"/>
              <a:pathLst>
                <a:path w="2408296" h="1057326">
                  <a:moveTo>
                    <a:pt x="0" y="0"/>
                  </a:moveTo>
                  <a:lnTo>
                    <a:pt x="2408296" y="0"/>
                  </a:lnTo>
                  <a:lnTo>
                    <a:pt x="2408296" y="1057326"/>
                  </a:lnTo>
                  <a:lnTo>
                    <a:pt x="0" y="1057326"/>
                  </a:lnTo>
                  <a:close/>
                </a:path>
              </a:pathLst>
            </a:custGeom>
            <a:solidFill>
              <a:srgbClr val="5E7D9C">
                <a:alpha val="6078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1095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0"/>
            <a:ext cx="9144000" cy="4014534"/>
            <a:chOff x="0" y="0"/>
            <a:chExt cx="2408296" cy="10573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8296" cy="1057326"/>
            </a:xfrm>
            <a:custGeom>
              <a:avLst/>
              <a:gdLst/>
              <a:ahLst/>
              <a:cxnLst/>
              <a:rect l="l" t="t" r="r" b="b"/>
              <a:pathLst>
                <a:path w="2408296" h="1057326">
                  <a:moveTo>
                    <a:pt x="0" y="0"/>
                  </a:moveTo>
                  <a:lnTo>
                    <a:pt x="2408296" y="0"/>
                  </a:lnTo>
                  <a:lnTo>
                    <a:pt x="2408296" y="1057326"/>
                  </a:lnTo>
                  <a:lnTo>
                    <a:pt x="0" y="1057326"/>
                  </a:lnTo>
                  <a:close/>
                </a:path>
              </a:pathLst>
            </a:custGeom>
            <a:solidFill>
              <a:srgbClr val="89B764">
                <a:alpha val="6078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08296" cy="1095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4014534"/>
            <a:ext cx="9144000" cy="3993137"/>
            <a:chOff x="0" y="0"/>
            <a:chExt cx="2408296" cy="1051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08296" cy="1051691"/>
            </a:xfrm>
            <a:custGeom>
              <a:avLst/>
              <a:gdLst/>
              <a:ahLst/>
              <a:cxnLst/>
              <a:rect l="l" t="t" r="r" b="b"/>
              <a:pathLst>
                <a:path w="2408296" h="1051691">
                  <a:moveTo>
                    <a:pt x="0" y="0"/>
                  </a:moveTo>
                  <a:lnTo>
                    <a:pt x="2408296" y="0"/>
                  </a:lnTo>
                  <a:lnTo>
                    <a:pt x="2408296" y="1051691"/>
                  </a:lnTo>
                  <a:lnTo>
                    <a:pt x="0" y="1051691"/>
                  </a:lnTo>
                  <a:close/>
                </a:path>
              </a:pathLst>
            </a:custGeom>
            <a:solidFill>
              <a:srgbClr val="F29B34">
                <a:alpha val="6078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08296" cy="1089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4014534"/>
            <a:ext cx="9144000" cy="3993137"/>
            <a:chOff x="0" y="0"/>
            <a:chExt cx="2408296" cy="10516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08296" cy="1051691"/>
            </a:xfrm>
            <a:custGeom>
              <a:avLst/>
              <a:gdLst/>
              <a:ahLst/>
              <a:cxnLst/>
              <a:rect l="l" t="t" r="r" b="b"/>
              <a:pathLst>
                <a:path w="2408296" h="1051691">
                  <a:moveTo>
                    <a:pt x="0" y="0"/>
                  </a:moveTo>
                  <a:lnTo>
                    <a:pt x="2408296" y="0"/>
                  </a:lnTo>
                  <a:lnTo>
                    <a:pt x="2408296" y="1051691"/>
                  </a:lnTo>
                  <a:lnTo>
                    <a:pt x="0" y="1051691"/>
                  </a:lnTo>
                  <a:close/>
                </a:path>
              </a:pathLst>
            </a:custGeom>
            <a:solidFill>
              <a:srgbClr val="9663AD">
                <a:alpha val="6078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08296" cy="1089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8007671"/>
            <a:ext cx="18288000" cy="2279329"/>
            <a:chOff x="0" y="0"/>
            <a:chExt cx="4816593" cy="6003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600317"/>
            </a:xfrm>
            <a:custGeom>
              <a:avLst/>
              <a:gdLst/>
              <a:ahLst/>
              <a:cxnLst/>
              <a:rect l="l" t="t" r="r" b="b"/>
              <a:pathLst>
                <a:path w="4816592" h="600317">
                  <a:moveTo>
                    <a:pt x="0" y="0"/>
                  </a:moveTo>
                  <a:lnTo>
                    <a:pt x="4816592" y="0"/>
                  </a:lnTo>
                  <a:lnTo>
                    <a:pt x="4816592" y="600317"/>
                  </a:lnTo>
                  <a:lnTo>
                    <a:pt x="0" y="600317"/>
                  </a:lnTo>
                  <a:close/>
                </a:path>
              </a:pathLst>
            </a:custGeom>
            <a:solidFill>
              <a:srgbClr val="F23434">
                <a:alpha val="6078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16593" cy="63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881870" y="0"/>
            <a:ext cx="12524259" cy="8344288"/>
          </a:xfrm>
          <a:custGeom>
            <a:avLst/>
            <a:gdLst/>
            <a:ahLst/>
            <a:cxnLst/>
            <a:rect l="l" t="t" r="r" b="b"/>
            <a:pathLst>
              <a:path w="12524259" h="8344288">
                <a:moveTo>
                  <a:pt x="0" y="0"/>
                </a:moveTo>
                <a:lnTo>
                  <a:pt x="12524260" y="0"/>
                </a:lnTo>
                <a:lnTo>
                  <a:pt x="12524260" y="8344288"/>
                </a:lnTo>
                <a:lnTo>
                  <a:pt x="0" y="8344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187496" y="286417"/>
            <a:ext cx="8956504" cy="324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0"/>
              </a:lnSpc>
            </a:pPr>
            <a:r>
              <a:rPr lang="en-US" sz="20000" b="1">
                <a:solidFill>
                  <a:srgbClr val="FFFFFF">
                    <a:alpha val="45882"/>
                  </a:srgbClr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0132" y="692150"/>
            <a:ext cx="8533868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Primary:</a:t>
            </a:r>
          </a:p>
          <a:p>
            <a:pPr algn="l">
              <a:lnSpc>
                <a:spcPts val="3249"/>
              </a:lnSpc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Students, Researchers, Colleagues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7496" y="4487353"/>
            <a:ext cx="8956504" cy="324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0"/>
              </a:lnSpc>
            </a:pPr>
            <a:r>
              <a:rPr lang="en-US" sz="20000" b="1">
                <a:solidFill>
                  <a:srgbClr val="FFFFFF">
                    <a:alpha val="45882"/>
                  </a:srgbClr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GOALS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0" y="3971416"/>
            <a:ext cx="18336786" cy="0"/>
          </a:xfrm>
          <a:prstGeom prst="line">
            <a:avLst/>
          </a:prstGeom>
          <a:ln w="1905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2" name="AutoShape 22"/>
          <p:cNvSpPr/>
          <p:nvPr/>
        </p:nvSpPr>
        <p:spPr>
          <a:xfrm>
            <a:off x="9144000" y="0"/>
            <a:ext cx="0" cy="8034894"/>
          </a:xfrm>
          <a:prstGeom prst="line">
            <a:avLst/>
          </a:prstGeom>
          <a:ln w="1905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9328260" y="4958522"/>
            <a:ext cx="8775480" cy="2366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09"/>
              </a:lnSpc>
            </a:pPr>
            <a:r>
              <a:rPr lang="en-US" sz="14699" b="1">
                <a:solidFill>
                  <a:srgbClr val="FFFFFF">
                    <a:alpha val="45882"/>
                  </a:srgbClr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31496" y="286417"/>
            <a:ext cx="8956504" cy="324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0"/>
              </a:lnSpc>
            </a:pPr>
            <a:r>
              <a:rPr lang="en-US" sz="20000" b="1">
                <a:solidFill>
                  <a:srgbClr val="FFFFFF">
                    <a:alpha val="45882"/>
                  </a:srgbClr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NEEDS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15585" y="8007671"/>
            <a:ext cx="16056829" cy="2232662"/>
            <a:chOff x="0" y="0"/>
            <a:chExt cx="21409106" cy="2976883"/>
          </a:xfrm>
        </p:grpSpPr>
        <p:sp>
          <p:nvSpPr>
            <p:cNvPr id="26" name="Freeform 26"/>
            <p:cNvSpPr/>
            <p:nvPr/>
          </p:nvSpPr>
          <p:spPr>
            <a:xfrm>
              <a:off x="0" y="637497"/>
              <a:ext cx="2012987" cy="1701889"/>
            </a:xfrm>
            <a:custGeom>
              <a:avLst/>
              <a:gdLst/>
              <a:ahLst/>
              <a:cxnLst/>
              <a:rect l="l" t="t" r="r" b="b"/>
              <a:pathLst>
                <a:path w="2012987" h="1701889">
                  <a:moveTo>
                    <a:pt x="0" y="0"/>
                  </a:moveTo>
                  <a:lnTo>
                    <a:pt x="2012987" y="0"/>
                  </a:lnTo>
                  <a:lnTo>
                    <a:pt x="2012987" y="1701889"/>
                  </a:lnTo>
                  <a:lnTo>
                    <a:pt x="0" y="1701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7600" y="-133350"/>
              <a:ext cx="20541506" cy="3110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09"/>
                </a:lnSpc>
              </a:pPr>
              <a:r>
                <a:rPr lang="en-US" sz="14699" b="1">
                  <a:solidFill>
                    <a:srgbClr val="FFFFFF">
                      <a:alpha val="40784"/>
                    </a:srgbClr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CONSTRAINTS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413093" y="1000125"/>
            <a:ext cx="7874907" cy="20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Feeling heard &amp; included</a:t>
            </a:r>
          </a:p>
          <a:p>
            <a:pPr marL="539748" lvl="1" indent="-269874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Reduce interruptions &amp; overlap</a:t>
            </a:r>
          </a:p>
          <a:p>
            <a:pPr marL="539748" lvl="1" indent="-269874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Maintain focus and productivity</a:t>
            </a:r>
          </a:p>
          <a:p>
            <a:pPr marL="539748" lvl="1" indent="-269874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Encourage hesitant participants</a:t>
            </a:r>
          </a:p>
          <a:p>
            <a:pPr algn="l">
              <a:lnSpc>
                <a:spcPts val="3249"/>
              </a:lnSpc>
            </a:pPr>
            <a:endParaRPr lang="en-US" sz="2499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10132" y="3021346"/>
            <a:ext cx="5724227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Tertiary:</a:t>
            </a:r>
          </a:p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Educational institutions, Companies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0132" y="1786271"/>
            <a:ext cx="6886625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Secondary:</a:t>
            </a:r>
          </a:p>
          <a:p>
            <a:pPr algn="just">
              <a:lnSpc>
                <a:spcPts val="2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Teachers, Managers, Therapists</a:t>
            </a:r>
          </a:p>
          <a:p>
            <a:pPr algn="just">
              <a:lnSpc>
                <a:spcPts val="2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Moderators / Facilitators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3065" y="5171566"/>
            <a:ext cx="7576319" cy="20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Regulate turn-taking (one speaker at a time)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Track participation patterns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Provide real-time AI interventions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Generate periodic and final summaries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Manage session lifecycle phases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13093" y="5279834"/>
            <a:ext cx="7526387" cy="20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Web-based application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Small groups (2–8 participants)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Real-time vocal interaction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Collaborative scenarios (study, workplace...)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Structured session phases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55879" y="8544313"/>
            <a:ext cx="5549935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ASR–LLM–TTS latency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Speech recognition errors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LLM behavioral limitations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30598" y="8749100"/>
            <a:ext cx="5549935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Cloud-based audio processing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Single-server scalability limits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00175"/>
            <a:ext cx="14934122" cy="520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0"/>
              </a:lnSpc>
            </a:pPr>
            <a:r>
              <a:rPr lang="en-US" sz="20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STATE OF THE ART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7891960" y="-1315093"/>
            <a:ext cx="16561551" cy="16561551"/>
          </a:xfrm>
          <a:custGeom>
            <a:avLst/>
            <a:gdLst/>
            <a:ahLst/>
            <a:cxnLst/>
            <a:rect l="l" t="t" r="r" b="b"/>
            <a:pathLst>
              <a:path w="16561551" h="16561551">
                <a:moveTo>
                  <a:pt x="16561551" y="0"/>
                </a:moveTo>
                <a:lnTo>
                  <a:pt x="0" y="0"/>
                </a:lnTo>
                <a:lnTo>
                  <a:pt x="0" y="16561551"/>
                </a:lnTo>
                <a:lnTo>
                  <a:pt x="16561551" y="16561551"/>
                </a:lnTo>
                <a:lnTo>
                  <a:pt x="16561551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5039963" cy="8229600"/>
            <a:chOff x="0" y="0"/>
            <a:chExt cx="1327398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24019" y="1028700"/>
            <a:ext cx="5039963" cy="8229600"/>
            <a:chOff x="0" y="0"/>
            <a:chExt cx="132739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16431" y="1028700"/>
            <a:ext cx="5039963" cy="8229600"/>
            <a:chOff x="0" y="0"/>
            <a:chExt cx="1327398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435156"/>
            <a:ext cx="5042869" cy="4017352"/>
            <a:chOff x="0" y="0"/>
            <a:chExt cx="787060" cy="5966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7060" cy="596693"/>
            </a:xfrm>
            <a:custGeom>
              <a:avLst/>
              <a:gdLst/>
              <a:ahLst/>
              <a:cxnLst/>
              <a:rect l="l" t="t" r="r" b="b"/>
              <a:pathLst>
                <a:path w="787060" h="596693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24537"/>
                  </a:lnTo>
                  <a:cubicBezTo>
                    <a:pt x="787060" y="564387"/>
                    <a:pt x="754754" y="596693"/>
                    <a:pt x="714904" y="596693"/>
                  </a:cubicBezTo>
                  <a:lnTo>
                    <a:pt x="72155" y="596693"/>
                  </a:lnTo>
                  <a:cubicBezTo>
                    <a:pt x="32305" y="596693"/>
                    <a:pt x="0" y="564387"/>
                    <a:pt x="0" y="524537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87060" cy="625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16431" y="5435155"/>
            <a:ext cx="5042869" cy="4508945"/>
            <a:chOff x="0" y="0"/>
            <a:chExt cx="787060" cy="5966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7060" cy="596693"/>
            </a:xfrm>
            <a:custGeom>
              <a:avLst/>
              <a:gdLst/>
              <a:ahLst/>
              <a:cxnLst/>
              <a:rect l="l" t="t" r="r" b="b"/>
              <a:pathLst>
                <a:path w="787060" h="596693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24537"/>
                  </a:lnTo>
                  <a:cubicBezTo>
                    <a:pt x="787060" y="564387"/>
                    <a:pt x="754754" y="596693"/>
                    <a:pt x="714904" y="596693"/>
                  </a:cubicBezTo>
                  <a:lnTo>
                    <a:pt x="72155" y="596693"/>
                  </a:lnTo>
                  <a:cubicBezTo>
                    <a:pt x="32305" y="596693"/>
                    <a:pt x="0" y="564387"/>
                    <a:pt x="0" y="524537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87060" cy="625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21113" y="5435155"/>
            <a:ext cx="5042869" cy="4508945"/>
            <a:chOff x="0" y="0"/>
            <a:chExt cx="787060" cy="5966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7060" cy="596693"/>
            </a:xfrm>
            <a:custGeom>
              <a:avLst/>
              <a:gdLst/>
              <a:ahLst/>
              <a:cxnLst/>
              <a:rect l="l" t="t" r="r" b="b"/>
              <a:pathLst>
                <a:path w="787060" h="596693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24537"/>
                  </a:lnTo>
                  <a:cubicBezTo>
                    <a:pt x="787060" y="564387"/>
                    <a:pt x="754754" y="596693"/>
                    <a:pt x="714904" y="596693"/>
                  </a:cubicBezTo>
                  <a:lnTo>
                    <a:pt x="72155" y="596693"/>
                  </a:lnTo>
                  <a:cubicBezTo>
                    <a:pt x="32305" y="596693"/>
                    <a:pt x="0" y="564387"/>
                    <a:pt x="0" y="524537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87060" cy="625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680914" y="1222907"/>
            <a:ext cx="1738440" cy="1299089"/>
          </a:xfrm>
          <a:custGeom>
            <a:avLst/>
            <a:gdLst/>
            <a:ahLst/>
            <a:cxnLst/>
            <a:rect l="l" t="t" r="r" b="b"/>
            <a:pathLst>
              <a:path w="1738440" h="1299089">
                <a:moveTo>
                  <a:pt x="0" y="0"/>
                </a:moveTo>
                <a:lnTo>
                  <a:pt x="1738440" y="0"/>
                </a:lnTo>
                <a:lnTo>
                  <a:pt x="1738440" y="1299089"/>
                </a:lnTo>
                <a:lnTo>
                  <a:pt x="0" y="129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13779400" y="1233351"/>
            <a:ext cx="1803839" cy="1365831"/>
          </a:xfrm>
          <a:custGeom>
            <a:avLst/>
            <a:gdLst/>
            <a:ahLst/>
            <a:cxnLst/>
            <a:rect l="l" t="t" r="r" b="b"/>
            <a:pathLst>
              <a:path w="1803839" h="1365831">
                <a:moveTo>
                  <a:pt x="0" y="0"/>
                </a:moveTo>
                <a:lnTo>
                  <a:pt x="1803838" y="0"/>
                </a:lnTo>
                <a:lnTo>
                  <a:pt x="1803838" y="1365831"/>
                </a:lnTo>
                <a:lnTo>
                  <a:pt x="0" y="1365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7039635" y="1391455"/>
            <a:ext cx="4302627" cy="1393465"/>
          </a:xfrm>
          <a:custGeom>
            <a:avLst/>
            <a:gdLst/>
            <a:ahLst/>
            <a:cxnLst/>
            <a:rect l="l" t="t" r="r" b="b"/>
            <a:pathLst>
              <a:path w="4302627" h="1393465">
                <a:moveTo>
                  <a:pt x="0" y="0"/>
                </a:moveTo>
                <a:lnTo>
                  <a:pt x="4302627" y="0"/>
                </a:lnTo>
                <a:lnTo>
                  <a:pt x="4302627" y="1393465"/>
                </a:lnTo>
                <a:lnTo>
                  <a:pt x="0" y="1393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54" t="-75699" r="-15513" b="-9207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480504" y="3140355"/>
            <a:ext cx="4136354" cy="273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MUCA – Multi-User Chat Assistant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Multiuser Conversational Agents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LLMs as Facilitators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LLMs Get Lost in Multi-Turn Conversation</a:t>
            </a:r>
          </a:p>
          <a:p>
            <a:pPr algn="l">
              <a:lnSpc>
                <a:spcPts val="2470"/>
              </a:lnSpc>
            </a:pPr>
            <a:endParaRPr lang="en-US" sz="19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algn="l">
              <a:lnSpc>
                <a:spcPts val="2470"/>
              </a:lnSpc>
            </a:pPr>
            <a:endParaRPr lang="en-US" sz="19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81957" y="5700217"/>
            <a:ext cx="4136354" cy="304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Formalization of multi-user moderation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AI influence on participation dynamics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Task-awareness vs. task-agnostic moderation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Performance degradation in multi-turn dialogue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Need for structured state and memory mechanisms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41795" y="2589657"/>
            <a:ext cx="161377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RESEARCH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63536" y="3221990"/>
            <a:ext cx="4160929" cy="212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Video Conferencing Platforms (Zoom, Microsoft Teams, Google Meet)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Transcription Tools (Otter.ai)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Conversation Intelligence Platforms (Gong)</a:t>
            </a:r>
          </a:p>
          <a:p>
            <a:pPr algn="l">
              <a:lnSpc>
                <a:spcPts val="2470"/>
              </a:lnSpc>
            </a:pPr>
            <a:endParaRPr lang="en-US" sz="19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63536" y="5700217"/>
            <a:ext cx="4160929" cy="243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Real-time voice infrastructure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Manual turn-taking management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Passive transcription/documentation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Post-hoc analytics (not live intervention)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Absence of real-time AI moderation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63536" y="2589657"/>
            <a:ext cx="425482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EXISTING PRODUCTS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54581" y="3140355"/>
            <a:ext cx="4053475" cy="121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Modality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Context Awareness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Architectural Robustness</a:t>
            </a:r>
          </a:p>
          <a:p>
            <a:pPr algn="l">
              <a:lnSpc>
                <a:spcPts val="2470"/>
              </a:lnSpc>
            </a:pPr>
            <a:endParaRPr lang="en-US" sz="19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711128" y="5700217"/>
            <a:ext cx="4053475" cy="304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 integration of voice + AI moderation in real time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Limited task-aware conversational facilitation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Over-reliance on prompt-only approaches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Weak dialogue state coherence in long interactions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Need for explicit state tracking and structured memory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50284" y="2589657"/>
            <a:ext cx="395847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IDENTIFIED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891960" y="-1315093"/>
            <a:ext cx="16561551" cy="16561551"/>
          </a:xfrm>
          <a:custGeom>
            <a:avLst/>
            <a:gdLst/>
            <a:ahLst/>
            <a:cxnLst/>
            <a:rect l="l" t="t" r="r" b="b"/>
            <a:pathLst>
              <a:path w="16561551" h="16561551">
                <a:moveTo>
                  <a:pt x="16561551" y="0"/>
                </a:moveTo>
                <a:lnTo>
                  <a:pt x="0" y="0"/>
                </a:lnTo>
                <a:lnTo>
                  <a:pt x="0" y="16561551"/>
                </a:lnTo>
                <a:lnTo>
                  <a:pt x="16561551" y="16561551"/>
                </a:lnTo>
                <a:lnTo>
                  <a:pt x="16561551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1400175"/>
            <a:ext cx="14934122" cy="520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0"/>
              </a:lnSpc>
            </a:pPr>
            <a:r>
              <a:rPr lang="en-US" sz="200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SOLUTION -</a:t>
            </a:r>
          </a:p>
          <a:p>
            <a:pPr algn="l">
              <a:lnSpc>
                <a:spcPts val="20000"/>
              </a:lnSpc>
            </a:pPr>
            <a:r>
              <a:rPr lang="en-US" sz="200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UX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5017" y="111337"/>
            <a:ext cx="17816270" cy="10027717"/>
            <a:chOff x="0" y="0"/>
            <a:chExt cx="4692351" cy="2641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92351" cy="2641045"/>
            </a:xfrm>
            <a:custGeom>
              <a:avLst/>
              <a:gdLst/>
              <a:ahLst/>
              <a:cxnLst/>
              <a:rect l="l" t="t" r="r" b="b"/>
              <a:pathLst>
                <a:path w="4692351" h="2641045">
                  <a:moveTo>
                    <a:pt x="22162" y="0"/>
                  </a:moveTo>
                  <a:lnTo>
                    <a:pt x="4670189" y="0"/>
                  </a:lnTo>
                  <a:cubicBezTo>
                    <a:pt x="4676067" y="0"/>
                    <a:pt x="4681704" y="2335"/>
                    <a:pt x="4685860" y="6491"/>
                  </a:cubicBezTo>
                  <a:cubicBezTo>
                    <a:pt x="4690016" y="10647"/>
                    <a:pt x="4692351" y="16284"/>
                    <a:pt x="4692351" y="22162"/>
                  </a:cubicBezTo>
                  <a:lnTo>
                    <a:pt x="4692351" y="2618883"/>
                  </a:lnTo>
                  <a:cubicBezTo>
                    <a:pt x="4692351" y="2631123"/>
                    <a:pt x="4682429" y="2641045"/>
                    <a:pt x="4670189" y="2641045"/>
                  </a:cubicBezTo>
                  <a:lnTo>
                    <a:pt x="22162" y="2641045"/>
                  </a:lnTo>
                  <a:cubicBezTo>
                    <a:pt x="9922" y="2641045"/>
                    <a:pt x="0" y="2631123"/>
                    <a:pt x="0" y="2618883"/>
                  </a:cubicBezTo>
                  <a:lnTo>
                    <a:pt x="0" y="22162"/>
                  </a:lnTo>
                  <a:cubicBezTo>
                    <a:pt x="0" y="9922"/>
                    <a:pt x="9922" y="0"/>
                    <a:pt x="22162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92351" cy="2679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79388" y="1567875"/>
            <a:ext cx="14129224" cy="8009645"/>
            <a:chOff x="0" y="0"/>
            <a:chExt cx="3721277" cy="21095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21277" cy="2109536"/>
            </a:xfrm>
            <a:custGeom>
              <a:avLst/>
              <a:gdLst/>
              <a:ahLst/>
              <a:cxnLst/>
              <a:rect l="l" t="t" r="r" b="b"/>
              <a:pathLst>
                <a:path w="3721277" h="2109536">
                  <a:moveTo>
                    <a:pt x="27945" y="0"/>
                  </a:moveTo>
                  <a:lnTo>
                    <a:pt x="3693332" y="0"/>
                  </a:lnTo>
                  <a:cubicBezTo>
                    <a:pt x="3700744" y="0"/>
                    <a:pt x="3707852" y="2944"/>
                    <a:pt x="3713092" y="8185"/>
                  </a:cubicBezTo>
                  <a:cubicBezTo>
                    <a:pt x="3718333" y="13425"/>
                    <a:pt x="3721277" y="20533"/>
                    <a:pt x="3721277" y="27945"/>
                  </a:cubicBezTo>
                  <a:lnTo>
                    <a:pt x="3721277" y="2081591"/>
                  </a:lnTo>
                  <a:cubicBezTo>
                    <a:pt x="3721277" y="2089003"/>
                    <a:pt x="3718333" y="2096111"/>
                    <a:pt x="3713092" y="2101351"/>
                  </a:cubicBezTo>
                  <a:cubicBezTo>
                    <a:pt x="3707852" y="2106592"/>
                    <a:pt x="3700744" y="2109536"/>
                    <a:pt x="3693332" y="2109536"/>
                  </a:cubicBezTo>
                  <a:lnTo>
                    <a:pt x="27945" y="2109536"/>
                  </a:lnTo>
                  <a:cubicBezTo>
                    <a:pt x="20533" y="2109536"/>
                    <a:pt x="13425" y="2106592"/>
                    <a:pt x="8185" y="2101351"/>
                  </a:cubicBezTo>
                  <a:cubicBezTo>
                    <a:pt x="2944" y="2096111"/>
                    <a:pt x="0" y="2089003"/>
                    <a:pt x="0" y="2081591"/>
                  </a:cubicBezTo>
                  <a:lnTo>
                    <a:pt x="0" y="27945"/>
                  </a:lnTo>
                  <a:cubicBezTo>
                    <a:pt x="0" y="20533"/>
                    <a:pt x="2944" y="13425"/>
                    <a:pt x="8185" y="8185"/>
                  </a:cubicBezTo>
                  <a:cubicBezTo>
                    <a:pt x="13425" y="2944"/>
                    <a:pt x="20533" y="0"/>
                    <a:pt x="279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21277" cy="214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3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6307" y="1785369"/>
            <a:ext cx="13775385" cy="7587230"/>
          </a:xfrm>
          <a:custGeom>
            <a:avLst/>
            <a:gdLst/>
            <a:ahLst/>
            <a:cxnLst/>
            <a:rect l="l" t="t" r="r" b="b"/>
            <a:pathLst>
              <a:path w="13775385" h="7587230">
                <a:moveTo>
                  <a:pt x="0" y="0"/>
                </a:moveTo>
                <a:lnTo>
                  <a:pt x="13775386" y="0"/>
                </a:lnTo>
                <a:lnTo>
                  <a:pt x="13775386" y="7587230"/>
                </a:lnTo>
                <a:lnTo>
                  <a:pt x="0" y="7587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" t="-2132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2256307" y="569399"/>
            <a:ext cx="13775385" cy="79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3"/>
              </a:lnSpc>
              <a:spcBef>
                <a:spcPct val="0"/>
              </a:spcBef>
            </a:pPr>
            <a:r>
              <a:rPr lang="en-US" sz="4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95668" y="-267751"/>
            <a:ext cx="9815347" cy="5374647"/>
          </a:xfrm>
          <a:custGeom>
            <a:avLst/>
            <a:gdLst/>
            <a:ahLst/>
            <a:cxnLst/>
            <a:rect l="l" t="t" r="r" b="b"/>
            <a:pathLst>
              <a:path w="9815347" h="5521133">
                <a:moveTo>
                  <a:pt x="0" y="0"/>
                </a:moveTo>
                <a:lnTo>
                  <a:pt x="9815347" y="0"/>
                </a:lnTo>
                <a:lnTo>
                  <a:pt x="9815347" y="5521133"/>
                </a:lnTo>
                <a:lnTo>
                  <a:pt x="0" y="5521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13" r="-1181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-259260" y="4912353"/>
            <a:ext cx="9554928" cy="5374647"/>
          </a:xfrm>
          <a:custGeom>
            <a:avLst/>
            <a:gdLst/>
            <a:ahLst/>
            <a:cxnLst/>
            <a:rect l="l" t="t" r="r" b="b"/>
            <a:pathLst>
              <a:path w="9554928" h="5374647">
                <a:moveTo>
                  <a:pt x="0" y="0"/>
                </a:moveTo>
                <a:lnTo>
                  <a:pt x="9554928" y="0"/>
                </a:lnTo>
                <a:lnTo>
                  <a:pt x="9554928" y="5374647"/>
                </a:lnTo>
                <a:lnTo>
                  <a:pt x="0" y="5374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718" t="-5074" r="-1373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-259260" y="-267751"/>
            <a:ext cx="9554928" cy="5374647"/>
          </a:xfrm>
          <a:custGeom>
            <a:avLst/>
            <a:gdLst/>
            <a:ahLst/>
            <a:cxnLst/>
            <a:rect l="l" t="t" r="r" b="b"/>
            <a:pathLst>
              <a:path w="9554928" h="5374647">
                <a:moveTo>
                  <a:pt x="0" y="0"/>
                </a:moveTo>
                <a:lnTo>
                  <a:pt x="9554928" y="0"/>
                </a:lnTo>
                <a:lnTo>
                  <a:pt x="9554928" y="5374647"/>
                </a:lnTo>
                <a:lnTo>
                  <a:pt x="0" y="537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809" t="-4221" r="-21037" b="-99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9295667" y="5106896"/>
            <a:ext cx="9815331" cy="5180104"/>
          </a:xfrm>
          <a:custGeom>
            <a:avLst/>
            <a:gdLst/>
            <a:ahLst/>
            <a:cxnLst/>
            <a:rect l="l" t="t" r="r" b="b"/>
            <a:pathLst>
              <a:path w="9209074" h="5180104">
                <a:moveTo>
                  <a:pt x="0" y="0"/>
                </a:moveTo>
                <a:lnTo>
                  <a:pt x="9209074" y="0"/>
                </a:lnTo>
                <a:lnTo>
                  <a:pt x="9209074" y="5180104"/>
                </a:lnTo>
                <a:lnTo>
                  <a:pt x="0" y="5180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695" t="-14474" r="-31526" b="-667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>
            <a:off x="-259265" y="5106896"/>
            <a:ext cx="1937025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AutoShape 7"/>
          <p:cNvSpPr/>
          <p:nvPr/>
        </p:nvSpPr>
        <p:spPr>
          <a:xfrm flipH="1" flipV="1">
            <a:off x="9295650" y="-267752"/>
            <a:ext cx="18" cy="106502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891960" y="-1315093"/>
            <a:ext cx="16561551" cy="16561551"/>
          </a:xfrm>
          <a:custGeom>
            <a:avLst/>
            <a:gdLst/>
            <a:ahLst/>
            <a:cxnLst/>
            <a:rect l="l" t="t" r="r" b="b"/>
            <a:pathLst>
              <a:path w="16561551" h="16561551">
                <a:moveTo>
                  <a:pt x="16561551" y="0"/>
                </a:moveTo>
                <a:lnTo>
                  <a:pt x="0" y="0"/>
                </a:lnTo>
                <a:lnTo>
                  <a:pt x="0" y="16561551"/>
                </a:lnTo>
                <a:lnTo>
                  <a:pt x="16561551" y="16561551"/>
                </a:lnTo>
                <a:lnTo>
                  <a:pt x="16561551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1343025"/>
            <a:ext cx="14934122" cy="442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0"/>
              </a:lnSpc>
            </a:pPr>
            <a:r>
              <a:rPr lang="en-US" sz="17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SOLUTION -</a:t>
            </a:r>
          </a:p>
          <a:p>
            <a:pPr algn="l">
              <a:lnSpc>
                <a:spcPts val="17000"/>
              </a:lnSpc>
            </a:pPr>
            <a:r>
              <a:rPr lang="en-US" sz="17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1275" y="6003588"/>
            <a:ext cx="1062757" cy="1367110"/>
            <a:chOff x="0" y="0"/>
            <a:chExt cx="63185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1851" cy="812800"/>
            </a:xfrm>
            <a:custGeom>
              <a:avLst/>
              <a:gdLst/>
              <a:ahLst/>
              <a:cxnLst/>
              <a:rect l="l" t="t" r="r" b="b"/>
              <a:pathLst>
                <a:path w="631851" h="812800">
                  <a:moveTo>
                    <a:pt x="31592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428651" y="0"/>
                  </a:lnTo>
                  <a:lnTo>
                    <a:pt x="428651" y="406400"/>
                  </a:lnTo>
                  <a:lnTo>
                    <a:pt x="631851" y="406400"/>
                  </a:lnTo>
                  <a:lnTo>
                    <a:pt x="315925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3200" y="-28575"/>
              <a:ext cx="225451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0595" y="788542"/>
            <a:ext cx="7924117" cy="4865990"/>
            <a:chOff x="0" y="0"/>
            <a:chExt cx="10565489" cy="648798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1003523"/>
              <a:ext cx="10565489" cy="5484464"/>
              <a:chOff x="0" y="0"/>
              <a:chExt cx="2087010" cy="10833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87010" cy="1083351"/>
              </a:xfrm>
              <a:custGeom>
                <a:avLst/>
                <a:gdLst/>
                <a:ahLst/>
                <a:cxnLst/>
                <a:rect l="l" t="t" r="r" b="b"/>
                <a:pathLst>
                  <a:path w="2087010" h="1083351">
                    <a:moveTo>
                      <a:pt x="49827" y="0"/>
                    </a:moveTo>
                    <a:lnTo>
                      <a:pt x="2037183" y="0"/>
                    </a:lnTo>
                    <a:cubicBezTo>
                      <a:pt x="2064702" y="0"/>
                      <a:pt x="2087010" y="22308"/>
                      <a:pt x="2087010" y="49827"/>
                    </a:cubicBezTo>
                    <a:lnTo>
                      <a:pt x="2087010" y="1033523"/>
                    </a:lnTo>
                    <a:cubicBezTo>
                      <a:pt x="2087010" y="1046739"/>
                      <a:pt x="2081761" y="1059412"/>
                      <a:pt x="2072416" y="1068757"/>
                    </a:cubicBezTo>
                    <a:cubicBezTo>
                      <a:pt x="2063072" y="1078101"/>
                      <a:pt x="2050398" y="1083351"/>
                      <a:pt x="2037183" y="1083351"/>
                    </a:cubicBezTo>
                    <a:lnTo>
                      <a:pt x="49827" y="1083351"/>
                    </a:lnTo>
                    <a:cubicBezTo>
                      <a:pt x="22308" y="1083351"/>
                      <a:pt x="0" y="1061042"/>
                      <a:pt x="0" y="1033523"/>
                    </a:cubicBezTo>
                    <a:lnTo>
                      <a:pt x="0" y="49827"/>
                    </a:lnTo>
                    <a:cubicBezTo>
                      <a:pt x="0" y="22308"/>
                      <a:pt x="22308" y="0"/>
                      <a:pt x="498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2087010" cy="11119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37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62855" y="2990000"/>
              <a:ext cx="2961340" cy="2387708"/>
              <a:chOff x="0" y="0"/>
              <a:chExt cx="584956" cy="47164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84956" cy="471646"/>
              </a:xfrm>
              <a:custGeom>
                <a:avLst/>
                <a:gdLst/>
                <a:ahLst/>
                <a:cxnLst/>
                <a:rect l="l" t="t" r="r" b="b"/>
                <a:pathLst>
                  <a:path w="584956" h="471646">
                    <a:moveTo>
                      <a:pt x="177774" y="0"/>
                    </a:moveTo>
                    <a:lnTo>
                      <a:pt x="407182" y="0"/>
                    </a:lnTo>
                    <a:cubicBezTo>
                      <a:pt x="454330" y="0"/>
                      <a:pt x="499548" y="18730"/>
                      <a:pt x="532887" y="52069"/>
                    </a:cubicBezTo>
                    <a:cubicBezTo>
                      <a:pt x="566226" y="85408"/>
                      <a:pt x="584956" y="130626"/>
                      <a:pt x="584956" y="177774"/>
                    </a:cubicBezTo>
                    <a:lnTo>
                      <a:pt x="584956" y="293871"/>
                    </a:lnTo>
                    <a:cubicBezTo>
                      <a:pt x="584956" y="341020"/>
                      <a:pt x="566226" y="386238"/>
                      <a:pt x="532887" y="419577"/>
                    </a:cubicBezTo>
                    <a:cubicBezTo>
                      <a:pt x="499548" y="452916"/>
                      <a:pt x="454330" y="471646"/>
                      <a:pt x="407182" y="471646"/>
                    </a:cubicBezTo>
                    <a:lnTo>
                      <a:pt x="177774" y="471646"/>
                    </a:lnTo>
                    <a:cubicBezTo>
                      <a:pt x="130626" y="471646"/>
                      <a:pt x="85408" y="452916"/>
                      <a:pt x="52069" y="419577"/>
                    </a:cubicBezTo>
                    <a:cubicBezTo>
                      <a:pt x="18730" y="386238"/>
                      <a:pt x="0" y="341020"/>
                      <a:pt x="0" y="293871"/>
                    </a:cubicBezTo>
                    <a:lnTo>
                      <a:pt x="0" y="177774"/>
                    </a:lnTo>
                    <a:cubicBezTo>
                      <a:pt x="0" y="130626"/>
                      <a:pt x="18730" y="85408"/>
                      <a:pt x="52069" y="52069"/>
                    </a:cubicBezTo>
                    <a:cubicBezTo>
                      <a:pt x="85408" y="18730"/>
                      <a:pt x="130626" y="0"/>
                      <a:pt x="177774" y="0"/>
                    </a:cubicBezTo>
                    <a:close/>
                  </a:path>
                </a:pathLst>
              </a:custGeom>
              <a:solidFill>
                <a:srgbClr val="5E7D9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84956" cy="5097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3"/>
                  </a:lnSpc>
                </a:pPr>
                <a:r>
                  <a:rPr lang="en-US" sz="2799" b="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WEB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785597" y="2990000"/>
              <a:ext cx="2961340" cy="2387708"/>
              <a:chOff x="0" y="0"/>
              <a:chExt cx="584956" cy="47164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4956" cy="471646"/>
              </a:xfrm>
              <a:custGeom>
                <a:avLst/>
                <a:gdLst/>
                <a:ahLst/>
                <a:cxnLst/>
                <a:rect l="l" t="t" r="r" b="b"/>
                <a:pathLst>
                  <a:path w="584956" h="471646">
                    <a:moveTo>
                      <a:pt x="177774" y="0"/>
                    </a:moveTo>
                    <a:lnTo>
                      <a:pt x="407182" y="0"/>
                    </a:lnTo>
                    <a:cubicBezTo>
                      <a:pt x="454330" y="0"/>
                      <a:pt x="499548" y="18730"/>
                      <a:pt x="532887" y="52069"/>
                    </a:cubicBezTo>
                    <a:cubicBezTo>
                      <a:pt x="566226" y="85408"/>
                      <a:pt x="584956" y="130626"/>
                      <a:pt x="584956" y="177774"/>
                    </a:cubicBezTo>
                    <a:lnTo>
                      <a:pt x="584956" y="293871"/>
                    </a:lnTo>
                    <a:cubicBezTo>
                      <a:pt x="584956" y="341020"/>
                      <a:pt x="566226" y="386238"/>
                      <a:pt x="532887" y="419577"/>
                    </a:cubicBezTo>
                    <a:cubicBezTo>
                      <a:pt x="499548" y="452916"/>
                      <a:pt x="454330" y="471646"/>
                      <a:pt x="407182" y="471646"/>
                    </a:cubicBezTo>
                    <a:lnTo>
                      <a:pt x="177774" y="471646"/>
                    </a:lnTo>
                    <a:cubicBezTo>
                      <a:pt x="130626" y="471646"/>
                      <a:pt x="85408" y="452916"/>
                      <a:pt x="52069" y="419577"/>
                    </a:cubicBezTo>
                    <a:cubicBezTo>
                      <a:pt x="18730" y="386238"/>
                      <a:pt x="0" y="341020"/>
                      <a:pt x="0" y="293871"/>
                    </a:cubicBezTo>
                    <a:lnTo>
                      <a:pt x="0" y="177774"/>
                    </a:lnTo>
                    <a:cubicBezTo>
                      <a:pt x="0" y="130626"/>
                      <a:pt x="18730" y="85408"/>
                      <a:pt x="52069" y="52069"/>
                    </a:cubicBezTo>
                    <a:cubicBezTo>
                      <a:pt x="85408" y="18730"/>
                      <a:pt x="130626" y="0"/>
                      <a:pt x="177774" y="0"/>
                    </a:cubicBezTo>
                    <a:close/>
                  </a:path>
                </a:pathLst>
              </a:custGeom>
              <a:solidFill>
                <a:srgbClr val="5E7D9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84956" cy="5097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3"/>
                  </a:lnSpc>
                </a:pPr>
                <a:r>
                  <a:rPr lang="en-US" sz="2799" b="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DB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102537" y="2910896"/>
              <a:ext cx="2961340" cy="2387708"/>
              <a:chOff x="0" y="0"/>
              <a:chExt cx="584956" cy="47164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84956" cy="471646"/>
              </a:xfrm>
              <a:custGeom>
                <a:avLst/>
                <a:gdLst/>
                <a:ahLst/>
                <a:cxnLst/>
                <a:rect l="l" t="t" r="r" b="b"/>
                <a:pathLst>
                  <a:path w="584956" h="471646">
                    <a:moveTo>
                      <a:pt x="177774" y="0"/>
                    </a:moveTo>
                    <a:lnTo>
                      <a:pt x="407182" y="0"/>
                    </a:lnTo>
                    <a:cubicBezTo>
                      <a:pt x="454330" y="0"/>
                      <a:pt x="499548" y="18730"/>
                      <a:pt x="532887" y="52069"/>
                    </a:cubicBezTo>
                    <a:cubicBezTo>
                      <a:pt x="566226" y="85408"/>
                      <a:pt x="584956" y="130626"/>
                      <a:pt x="584956" y="177774"/>
                    </a:cubicBezTo>
                    <a:lnTo>
                      <a:pt x="584956" y="293871"/>
                    </a:lnTo>
                    <a:cubicBezTo>
                      <a:pt x="584956" y="341020"/>
                      <a:pt x="566226" y="386238"/>
                      <a:pt x="532887" y="419577"/>
                    </a:cubicBezTo>
                    <a:cubicBezTo>
                      <a:pt x="499548" y="452916"/>
                      <a:pt x="454330" y="471646"/>
                      <a:pt x="407182" y="471646"/>
                    </a:cubicBezTo>
                    <a:lnTo>
                      <a:pt x="177774" y="471646"/>
                    </a:lnTo>
                    <a:cubicBezTo>
                      <a:pt x="130626" y="471646"/>
                      <a:pt x="85408" y="452916"/>
                      <a:pt x="52069" y="419577"/>
                    </a:cubicBezTo>
                    <a:cubicBezTo>
                      <a:pt x="18730" y="386238"/>
                      <a:pt x="0" y="341020"/>
                      <a:pt x="0" y="293871"/>
                    </a:cubicBezTo>
                    <a:lnTo>
                      <a:pt x="0" y="177774"/>
                    </a:lnTo>
                    <a:cubicBezTo>
                      <a:pt x="0" y="130626"/>
                      <a:pt x="18730" y="85408"/>
                      <a:pt x="52069" y="52069"/>
                    </a:cubicBezTo>
                    <a:cubicBezTo>
                      <a:pt x="85408" y="18730"/>
                      <a:pt x="130626" y="0"/>
                      <a:pt x="177774" y="0"/>
                    </a:cubicBezTo>
                    <a:close/>
                  </a:path>
                </a:pathLst>
              </a:custGeom>
              <a:solidFill>
                <a:srgbClr val="5E7D9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84956" cy="5097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3"/>
                  </a:lnSpc>
                </a:pPr>
                <a:r>
                  <a:rPr lang="en-US" sz="2799" b="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REDIS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62855" y="-66675"/>
              <a:ext cx="3753912" cy="77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</a:pPr>
              <a:r>
                <a:rPr lang="en-US" sz="3508" b="1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Deployment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51401" y="1302092"/>
              <a:ext cx="7262688" cy="939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55"/>
                </a:lnSpc>
              </a:pPr>
              <a:r>
                <a:rPr lang="en-US" sz="4253" b="1">
                  <a:solidFill>
                    <a:srgbClr val="5E7D9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Azure VM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94985" y="7235021"/>
            <a:ext cx="5655337" cy="2386671"/>
            <a:chOff x="0" y="0"/>
            <a:chExt cx="7540449" cy="3182228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492208"/>
              <a:ext cx="7540449" cy="2690020"/>
              <a:chOff x="0" y="0"/>
              <a:chExt cx="3036763" cy="108335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036763" cy="1083351"/>
              </a:xfrm>
              <a:custGeom>
                <a:avLst/>
                <a:gdLst/>
                <a:ahLst/>
                <a:cxnLst/>
                <a:rect l="l" t="t" r="r" b="b"/>
                <a:pathLst>
                  <a:path w="3036763" h="1083351">
                    <a:moveTo>
                      <a:pt x="34244" y="0"/>
                    </a:moveTo>
                    <a:lnTo>
                      <a:pt x="3002519" y="0"/>
                    </a:lnTo>
                    <a:cubicBezTo>
                      <a:pt x="3011601" y="0"/>
                      <a:pt x="3020311" y="3608"/>
                      <a:pt x="3026733" y="10030"/>
                    </a:cubicBezTo>
                    <a:cubicBezTo>
                      <a:pt x="3033155" y="16452"/>
                      <a:pt x="3036763" y="25162"/>
                      <a:pt x="3036763" y="34244"/>
                    </a:cubicBezTo>
                    <a:lnTo>
                      <a:pt x="3036763" y="1049107"/>
                    </a:lnTo>
                    <a:cubicBezTo>
                      <a:pt x="3036763" y="1058189"/>
                      <a:pt x="3033155" y="1066899"/>
                      <a:pt x="3026733" y="1073321"/>
                    </a:cubicBezTo>
                    <a:cubicBezTo>
                      <a:pt x="3020311" y="1079743"/>
                      <a:pt x="3011601" y="1083351"/>
                      <a:pt x="3002519" y="1083351"/>
                    </a:cubicBezTo>
                    <a:lnTo>
                      <a:pt x="34244" y="1083351"/>
                    </a:lnTo>
                    <a:cubicBezTo>
                      <a:pt x="25162" y="1083351"/>
                      <a:pt x="16452" y="1079743"/>
                      <a:pt x="10030" y="1073321"/>
                    </a:cubicBezTo>
                    <a:cubicBezTo>
                      <a:pt x="3608" y="1066899"/>
                      <a:pt x="0" y="1058189"/>
                      <a:pt x="0" y="1049107"/>
                    </a:cubicBezTo>
                    <a:lnTo>
                      <a:pt x="0" y="34244"/>
                    </a:lnTo>
                    <a:cubicBezTo>
                      <a:pt x="0" y="25162"/>
                      <a:pt x="3608" y="16452"/>
                      <a:pt x="10030" y="10030"/>
                    </a:cubicBezTo>
                    <a:cubicBezTo>
                      <a:pt x="16452" y="3608"/>
                      <a:pt x="25162" y="0"/>
                      <a:pt x="3424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3036763" cy="11119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37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30333" y="1466535"/>
              <a:ext cx="2113469" cy="1171123"/>
              <a:chOff x="0" y="0"/>
              <a:chExt cx="851157" cy="47164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51157" cy="471646"/>
              </a:xfrm>
              <a:custGeom>
                <a:avLst/>
                <a:gdLst/>
                <a:ahLst/>
                <a:cxnLst/>
                <a:rect l="l" t="t" r="r" b="b"/>
                <a:pathLst>
                  <a:path w="851157" h="471646">
                    <a:moveTo>
                      <a:pt x="122175" y="0"/>
                    </a:moveTo>
                    <a:lnTo>
                      <a:pt x="728981" y="0"/>
                    </a:lnTo>
                    <a:cubicBezTo>
                      <a:pt x="761384" y="0"/>
                      <a:pt x="792460" y="12872"/>
                      <a:pt x="815372" y="35784"/>
                    </a:cubicBezTo>
                    <a:cubicBezTo>
                      <a:pt x="838285" y="58697"/>
                      <a:pt x="851157" y="89772"/>
                      <a:pt x="851157" y="122175"/>
                    </a:cubicBezTo>
                    <a:lnTo>
                      <a:pt x="851157" y="349471"/>
                    </a:lnTo>
                    <a:cubicBezTo>
                      <a:pt x="851157" y="416946"/>
                      <a:pt x="796457" y="471646"/>
                      <a:pt x="728981" y="471646"/>
                    </a:cubicBezTo>
                    <a:lnTo>
                      <a:pt x="122175" y="471646"/>
                    </a:lnTo>
                    <a:cubicBezTo>
                      <a:pt x="89772" y="471646"/>
                      <a:pt x="58697" y="458774"/>
                      <a:pt x="35784" y="435862"/>
                    </a:cubicBezTo>
                    <a:cubicBezTo>
                      <a:pt x="12872" y="412949"/>
                      <a:pt x="0" y="381874"/>
                      <a:pt x="0" y="349471"/>
                    </a:cubicBezTo>
                    <a:lnTo>
                      <a:pt x="0" y="122175"/>
                    </a:lnTo>
                    <a:cubicBezTo>
                      <a:pt x="0" y="89772"/>
                      <a:pt x="12872" y="58697"/>
                      <a:pt x="35784" y="35784"/>
                    </a:cubicBezTo>
                    <a:cubicBezTo>
                      <a:pt x="58697" y="12872"/>
                      <a:pt x="89772" y="0"/>
                      <a:pt x="122175" y="0"/>
                    </a:cubicBezTo>
                    <a:close/>
                  </a:path>
                </a:pathLst>
              </a:custGeom>
              <a:solidFill>
                <a:srgbClr val="5E7D9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851157" cy="5097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3"/>
                  </a:lnSpc>
                </a:pPr>
                <a:r>
                  <a:rPr lang="en-US" sz="2799" b="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STT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699660" y="1429766"/>
              <a:ext cx="2113469" cy="1171123"/>
              <a:chOff x="0" y="0"/>
              <a:chExt cx="851157" cy="47164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51157" cy="471646"/>
              </a:xfrm>
              <a:custGeom>
                <a:avLst/>
                <a:gdLst/>
                <a:ahLst/>
                <a:cxnLst/>
                <a:rect l="l" t="t" r="r" b="b"/>
                <a:pathLst>
                  <a:path w="851157" h="471646">
                    <a:moveTo>
                      <a:pt x="122175" y="0"/>
                    </a:moveTo>
                    <a:lnTo>
                      <a:pt x="728981" y="0"/>
                    </a:lnTo>
                    <a:cubicBezTo>
                      <a:pt x="761384" y="0"/>
                      <a:pt x="792460" y="12872"/>
                      <a:pt x="815372" y="35784"/>
                    </a:cubicBezTo>
                    <a:cubicBezTo>
                      <a:pt x="838285" y="58697"/>
                      <a:pt x="851157" y="89772"/>
                      <a:pt x="851157" y="122175"/>
                    </a:cubicBezTo>
                    <a:lnTo>
                      <a:pt x="851157" y="349471"/>
                    </a:lnTo>
                    <a:cubicBezTo>
                      <a:pt x="851157" y="416946"/>
                      <a:pt x="796457" y="471646"/>
                      <a:pt x="728981" y="471646"/>
                    </a:cubicBezTo>
                    <a:lnTo>
                      <a:pt x="122175" y="471646"/>
                    </a:lnTo>
                    <a:cubicBezTo>
                      <a:pt x="89772" y="471646"/>
                      <a:pt x="58697" y="458774"/>
                      <a:pt x="35784" y="435862"/>
                    </a:cubicBezTo>
                    <a:cubicBezTo>
                      <a:pt x="12872" y="412949"/>
                      <a:pt x="0" y="381874"/>
                      <a:pt x="0" y="349471"/>
                    </a:cubicBezTo>
                    <a:lnTo>
                      <a:pt x="0" y="122175"/>
                    </a:lnTo>
                    <a:cubicBezTo>
                      <a:pt x="0" y="89772"/>
                      <a:pt x="12872" y="58697"/>
                      <a:pt x="35784" y="35784"/>
                    </a:cubicBezTo>
                    <a:cubicBezTo>
                      <a:pt x="58697" y="12872"/>
                      <a:pt x="89772" y="0"/>
                      <a:pt x="122175" y="0"/>
                    </a:cubicBezTo>
                    <a:close/>
                  </a:path>
                </a:pathLst>
              </a:custGeom>
              <a:solidFill>
                <a:srgbClr val="5E7D9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851157" cy="5097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3"/>
                  </a:lnSpc>
                </a:pPr>
                <a:r>
                  <a:rPr lang="en-US" sz="2799" b="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OpenAI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068987" y="1427736"/>
              <a:ext cx="2113469" cy="1171123"/>
              <a:chOff x="0" y="0"/>
              <a:chExt cx="851157" cy="47164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51157" cy="471646"/>
              </a:xfrm>
              <a:custGeom>
                <a:avLst/>
                <a:gdLst/>
                <a:ahLst/>
                <a:cxnLst/>
                <a:rect l="l" t="t" r="r" b="b"/>
                <a:pathLst>
                  <a:path w="851157" h="471646">
                    <a:moveTo>
                      <a:pt x="122175" y="0"/>
                    </a:moveTo>
                    <a:lnTo>
                      <a:pt x="728981" y="0"/>
                    </a:lnTo>
                    <a:cubicBezTo>
                      <a:pt x="761384" y="0"/>
                      <a:pt x="792460" y="12872"/>
                      <a:pt x="815372" y="35784"/>
                    </a:cubicBezTo>
                    <a:cubicBezTo>
                      <a:pt x="838285" y="58697"/>
                      <a:pt x="851157" y="89772"/>
                      <a:pt x="851157" y="122175"/>
                    </a:cubicBezTo>
                    <a:lnTo>
                      <a:pt x="851157" y="349471"/>
                    </a:lnTo>
                    <a:cubicBezTo>
                      <a:pt x="851157" y="416946"/>
                      <a:pt x="796457" y="471646"/>
                      <a:pt x="728981" y="471646"/>
                    </a:cubicBezTo>
                    <a:lnTo>
                      <a:pt x="122175" y="471646"/>
                    </a:lnTo>
                    <a:cubicBezTo>
                      <a:pt x="89772" y="471646"/>
                      <a:pt x="58697" y="458774"/>
                      <a:pt x="35784" y="435862"/>
                    </a:cubicBezTo>
                    <a:cubicBezTo>
                      <a:pt x="12872" y="412949"/>
                      <a:pt x="0" y="381874"/>
                      <a:pt x="0" y="349471"/>
                    </a:cubicBezTo>
                    <a:lnTo>
                      <a:pt x="0" y="122175"/>
                    </a:lnTo>
                    <a:cubicBezTo>
                      <a:pt x="0" y="89772"/>
                      <a:pt x="12872" y="58697"/>
                      <a:pt x="35784" y="35784"/>
                    </a:cubicBezTo>
                    <a:cubicBezTo>
                      <a:pt x="58697" y="12872"/>
                      <a:pt x="89772" y="0"/>
                      <a:pt x="122175" y="0"/>
                    </a:cubicBezTo>
                    <a:close/>
                  </a:path>
                </a:pathLst>
              </a:custGeom>
              <a:solidFill>
                <a:srgbClr val="5E7D9C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851157" cy="5097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3"/>
                  </a:lnSpc>
                </a:pPr>
                <a:r>
                  <a:rPr lang="en-US" sz="2799" b="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TTS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30333" y="-28575"/>
              <a:ext cx="2679117" cy="376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9"/>
                </a:lnSpc>
              </a:pPr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78583" y="637925"/>
              <a:ext cx="5183284" cy="461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20"/>
                </a:lnSpc>
              </a:pPr>
              <a:r>
                <a:rPr lang="en-US" sz="2086" b="1">
                  <a:solidFill>
                    <a:srgbClr val="5E7D9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Azure Services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161185" y="1472687"/>
            <a:ext cx="7420276" cy="8578217"/>
            <a:chOff x="0" y="0"/>
            <a:chExt cx="1954311" cy="22592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54311" cy="2259284"/>
            </a:xfrm>
            <a:custGeom>
              <a:avLst/>
              <a:gdLst/>
              <a:ahLst/>
              <a:cxnLst/>
              <a:rect l="l" t="t" r="r" b="b"/>
              <a:pathLst>
                <a:path w="1954311" h="2259284">
                  <a:moveTo>
                    <a:pt x="53211" y="0"/>
                  </a:moveTo>
                  <a:lnTo>
                    <a:pt x="1901101" y="0"/>
                  </a:lnTo>
                  <a:cubicBezTo>
                    <a:pt x="1930488" y="0"/>
                    <a:pt x="1954311" y="23823"/>
                    <a:pt x="1954311" y="53211"/>
                  </a:cubicBezTo>
                  <a:lnTo>
                    <a:pt x="1954311" y="2206073"/>
                  </a:lnTo>
                  <a:cubicBezTo>
                    <a:pt x="1954311" y="2220185"/>
                    <a:pt x="1948705" y="2233720"/>
                    <a:pt x="1938726" y="2243699"/>
                  </a:cubicBezTo>
                  <a:cubicBezTo>
                    <a:pt x="1928747" y="2253678"/>
                    <a:pt x="1915213" y="2259284"/>
                    <a:pt x="1901101" y="2259284"/>
                  </a:cubicBezTo>
                  <a:lnTo>
                    <a:pt x="53211" y="2259284"/>
                  </a:lnTo>
                  <a:cubicBezTo>
                    <a:pt x="23823" y="2259284"/>
                    <a:pt x="0" y="2235460"/>
                    <a:pt x="0" y="2206073"/>
                  </a:cubicBezTo>
                  <a:lnTo>
                    <a:pt x="0" y="53211"/>
                  </a:lnTo>
                  <a:cubicBezTo>
                    <a:pt x="0" y="23823"/>
                    <a:pt x="23823" y="0"/>
                    <a:pt x="5321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1954311" cy="2287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244122" y="721867"/>
            <a:ext cx="5158234" cy="596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3"/>
              </a:lnSpc>
            </a:pPr>
            <a:r>
              <a:rPr lang="en-US" sz="350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 Software Architecture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483346" y="1931494"/>
            <a:ext cx="6775954" cy="878342"/>
            <a:chOff x="0" y="0"/>
            <a:chExt cx="3638504" cy="47164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38504" cy="471646"/>
            </a:xfrm>
            <a:custGeom>
              <a:avLst/>
              <a:gdLst/>
              <a:ahLst/>
              <a:cxnLst/>
              <a:rect l="l" t="t" r="r" b="b"/>
              <a:pathLst>
                <a:path w="3638504" h="471646">
                  <a:moveTo>
                    <a:pt x="28564" y="0"/>
                  </a:moveTo>
                  <a:lnTo>
                    <a:pt x="3609940" y="0"/>
                  </a:lnTo>
                  <a:cubicBezTo>
                    <a:pt x="3625716" y="0"/>
                    <a:pt x="3638504" y="12789"/>
                    <a:pt x="3638504" y="28564"/>
                  </a:cubicBezTo>
                  <a:lnTo>
                    <a:pt x="3638504" y="443082"/>
                  </a:lnTo>
                  <a:cubicBezTo>
                    <a:pt x="3638504" y="458857"/>
                    <a:pt x="3625716" y="471646"/>
                    <a:pt x="3609940" y="471646"/>
                  </a:cubicBezTo>
                  <a:lnTo>
                    <a:pt x="28564" y="471646"/>
                  </a:lnTo>
                  <a:cubicBezTo>
                    <a:pt x="12789" y="471646"/>
                    <a:pt x="0" y="458857"/>
                    <a:pt x="0" y="443082"/>
                  </a:cubicBezTo>
                  <a:lnTo>
                    <a:pt x="0" y="28564"/>
                  </a:lnTo>
                  <a:cubicBezTo>
                    <a:pt x="0" y="12789"/>
                    <a:pt x="12789" y="0"/>
                    <a:pt x="2856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3638504" cy="500221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951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Session Management → </a:t>
              </a: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session lifecycle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83346" y="3221537"/>
            <a:ext cx="6775954" cy="1003436"/>
            <a:chOff x="0" y="0"/>
            <a:chExt cx="3638504" cy="53881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38504" cy="538818"/>
            </a:xfrm>
            <a:custGeom>
              <a:avLst/>
              <a:gdLst/>
              <a:ahLst/>
              <a:cxnLst/>
              <a:rect l="l" t="t" r="r" b="b"/>
              <a:pathLst>
                <a:path w="3638504" h="538818">
                  <a:moveTo>
                    <a:pt x="28564" y="0"/>
                  </a:moveTo>
                  <a:lnTo>
                    <a:pt x="3609940" y="0"/>
                  </a:lnTo>
                  <a:cubicBezTo>
                    <a:pt x="3625716" y="0"/>
                    <a:pt x="3638504" y="12789"/>
                    <a:pt x="3638504" y="28564"/>
                  </a:cubicBezTo>
                  <a:lnTo>
                    <a:pt x="3638504" y="510254"/>
                  </a:lnTo>
                  <a:cubicBezTo>
                    <a:pt x="3638504" y="526029"/>
                    <a:pt x="3625716" y="538818"/>
                    <a:pt x="3609940" y="538818"/>
                  </a:cubicBezTo>
                  <a:lnTo>
                    <a:pt x="28564" y="538818"/>
                  </a:lnTo>
                  <a:cubicBezTo>
                    <a:pt x="12789" y="538818"/>
                    <a:pt x="0" y="526029"/>
                    <a:pt x="0" y="510254"/>
                  </a:cubicBezTo>
                  <a:lnTo>
                    <a:pt x="0" y="28564"/>
                  </a:lnTo>
                  <a:cubicBezTo>
                    <a:pt x="0" y="12789"/>
                    <a:pt x="12789" y="0"/>
                    <a:pt x="2856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3638504" cy="567393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951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Turn Management → </a:t>
              </a: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speaking turn coordination 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483346" y="4634548"/>
            <a:ext cx="6775954" cy="1003436"/>
            <a:chOff x="0" y="0"/>
            <a:chExt cx="3638504" cy="53881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38504" cy="538818"/>
            </a:xfrm>
            <a:custGeom>
              <a:avLst/>
              <a:gdLst/>
              <a:ahLst/>
              <a:cxnLst/>
              <a:rect l="l" t="t" r="r" b="b"/>
              <a:pathLst>
                <a:path w="3638504" h="538818">
                  <a:moveTo>
                    <a:pt x="28564" y="0"/>
                  </a:moveTo>
                  <a:lnTo>
                    <a:pt x="3609940" y="0"/>
                  </a:lnTo>
                  <a:cubicBezTo>
                    <a:pt x="3625716" y="0"/>
                    <a:pt x="3638504" y="12789"/>
                    <a:pt x="3638504" y="28564"/>
                  </a:cubicBezTo>
                  <a:lnTo>
                    <a:pt x="3638504" y="510254"/>
                  </a:lnTo>
                  <a:cubicBezTo>
                    <a:pt x="3638504" y="526029"/>
                    <a:pt x="3625716" y="538818"/>
                    <a:pt x="3609940" y="538818"/>
                  </a:cubicBezTo>
                  <a:lnTo>
                    <a:pt x="28564" y="538818"/>
                  </a:lnTo>
                  <a:cubicBezTo>
                    <a:pt x="12789" y="538818"/>
                    <a:pt x="0" y="526029"/>
                    <a:pt x="0" y="510254"/>
                  </a:cubicBezTo>
                  <a:lnTo>
                    <a:pt x="0" y="28564"/>
                  </a:lnTo>
                  <a:cubicBezTo>
                    <a:pt x="0" y="12789"/>
                    <a:pt x="12789" y="0"/>
                    <a:pt x="2856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3638504" cy="567393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951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Audio Transport → </a:t>
              </a: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WebRTC server-side forwarding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483346" y="7460570"/>
            <a:ext cx="6775954" cy="1003436"/>
            <a:chOff x="0" y="0"/>
            <a:chExt cx="3638504" cy="53881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638504" cy="538818"/>
            </a:xfrm>
            <a:custGeom>
              <a:avLst/>
              <a:gdLst/>
              <a:ahLst/>
              <a:cxnLst/>
              <a:rect l="l" t="t" r="r" b="b"/>
              <a:pathLst>
                <a:path w="3638504" h="538818">
                  <a:moveTo>
                    <a:pt x="28564" y="0"/>
                  </a:moveTo>
                  <a:lnTo>
                    <a:pt x="3609940" y="0"/>
                  </a:lnTo>
                  <a:cubicBezTo>
                    <a:pt x="3625716" y="0"/>
                    <a:pt x="3638504" y="12789"/>
                    <a:pt x="3638504" y="28564"/>
                  </a:cubicBezTo>
                  <a:lnTo>
                    <a:pt x="3638504" y="510254"/>
                  </a:lnTo>
                  <a:cubicBezTo>
                    <a:pt x="3638504" y="526029"/>
                    <a:pt x="3625716" y="538818"/>
                    <a:pt x="3609940" y="538818"/>
                  </a:cubicBezTo>
                  <a:lnTo>
                    <a:pt x="28564" y="538818"/>
                  </a:lnTo>
                  <a:cubicBezTo>
                    <a:pt x="12789" y="538818"/>
                    <a:pt x="0" y="526029"/>
                    <a:pt x="0" y="510254"/>
                  </a:cubicBezTo>
                  <a:lnTo>
                    <a:pt x="0" y="28564"/>
                  </a:lnTo>
                  <a:cubicBezTo>
                    <a:pt x="0" y="12789"/>
                    <a:pt x="12789" y="0"/>
                    <a:pt x="2856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3638504" cy="567393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951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Moderation → </a:t>
              </a: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intervention decisions (Azure OpenAI) 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483346" y="6047559"/>
            <a:ext cx="6775954" cy="1003436"/>
            <a:chOff x="0" y="0"/>
            <a:chExt cx="3638504" cy="5388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638504" cy="538818"/>
            </a:xfrm>
            <a:custGeom>
              <a:avLst/>
              <a:gdLst/>
              <a:ahLst/>
              <a:cxnLst/>
              <a:rect l="l" t="t" r="r" b="b"/>
              <a:pathLst>
                <a:path w="3638504" h="538818">
                  <a:moveTo>
                    <a:pt x="28564" y="0"/>
                  </a:moveTo>
                  <a:lnTo>
                    <a:pt x="3609940" y="0"/>
                  </a:lnTo>
                  <a:cubicBezTo>
                    <a:pt x="3625716" y="0"/>
                    <a:pt x="3638504" y="12789"/>
                    <a:pt x="3638504" y="28564"/>
                  </a:cubicBezTo>
                  <a:lnTo>
                    <a:pt x="3638504" y="510254"/>
                  </a:lnTo>
                  <a:cubicBezTo>
                    <a:pt x="3638504" y="526029"/>
                    <a:pt x="3625716" y="538818"/>
                    <a:pt x="3609940" y="538818"/>
                  </a:cubicBezTo>
                  <a:lnTo>
                    <a:pt x="28564" y="538818"/>
                  </a:lnTo>
                  <a:cubicBezTo>
                    <a:pt x="12789" y="538818"/>
                    <a:pt x="0" y="526029"/>
                    <a:pt x="0" y="510254"/>
                  </a:cubicBezTo>
                  <a:lnTo>
                    <a:pt x="0" y="28564"/>
                  </a:lnTo>
                  <a:cubicBezTo>
                    <a:pt x="0" y="12789"/>
                    <a:pt x="12789" y="0"/>
                    <a:pt x="2856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3638504" cy="567393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951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Speech Recognition → </a:t>
              </a: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real-time transcription (Azure STT)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483346" y="8873581"/>
            <a:ext cx="6775954" cy="1003436"/>
            <a:chOff x="0" y="0"/>
            <a:chExt cx="3638504" cy="53881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638504" cy="538818"/>
            </a:xfrm>
            <a:custGeom>
              <a:avLst/>
              <a:gdLst/>
              <a:ahLst/>
              <a:cxnLst/>
              <a:rect l="l" t="t" r="r" b="b"/>
              <a:pathLst>
                <a:path w="3638504" h="538818">
                  <a:moveTo>
                    <a:pt x="28564" y="0"/>
                  </a:moveTo>
                  <a:lnTo>
                    <a:pt x="3609940" y="0"/>
                  </a:lnTo>
                  <a:cubicBezTo>
                    <a:pt x="3625716" y="0"/>
                    <a:pt x="3638504" y="12789"/>
                    <a:pt x="3638504" y="28564"/>
                  </a:cubicBezTo>
                  <a:lnTo>
                    <a:pt x="3638504" y="510254"/>
                  </a:lnTo>
                  <a:cubicBezTo>
                    <a:pt x="3638504" y="526029"/>
                    <a:pt x="3625716" y="538818"/>
                    <a:pt x="3609940" y="538818"/>
                  </a:cubicBezTo>
                  <a:lnTo>
                    <a:pt x="28564" y="538818"/>
                  </a:lnTo>
                  <a:cubicBezTo>
                    <a:pt x="12789" y="538818"/>
                    <a:pt x="0" y="526029"/>
                    <a:pt x="0" y="510254"/>
                  </a:cubicBezTo>
                  <a:lnTo>
                    <a:pt x="0" y="28564"/>
                  </a:lnTo>
                  <a:cubicBezTo>
                    <a:pt x="0" y="12789"/>
                    <a:pt x="12789" y="0"/>
                    <a:pt x="2856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3638504" cy="567393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951"/>
                </a:lnSpc>
              </a:pPr>
              <a:r>
                <a:rPr lang="en-US" sz="23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Text-to-Speech → </a:t>
              </a: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moderator voice synthesis (Azure TTS)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395" y="1028700"/>
            <a:ext cx="17699210" cy="3412131"/>
            <a:chOff x="0" y="0"/>
            <a:chExt cx="23598947" cy="454950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637619"/>
              <a:ext cx="23598947" cy="3911888"/>
              <a:chOff x="0" y="0"/>
              <a:chExt cx="4656837" cy="77194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656837" cy="771942"/>
              </a:xfrm>
              <a:custGeom>
                <a:avLst/>
                <a:gdLst/>
                <a:ahLst/>
                <a:cxnLst/>
                <a:rect l="l" t="t" r="r" b="b"/>
                <a:pathLst>
                  <a:path w="4656837" h="771942">
                    <a:moveTo>
                      <a:pt x="22331" y="0"/>
                    </a:moveTo>
                    <a:lnTo>
                      <a:pt x="4634506" y="0"/>
                    </a:lnTo>
                    <a:cubicBezTo>
                      <a:pt x="4640429" y="0"/>
                      <a:pt x="4646109" y="2353"/>
                      <a:pt x="4650297" y="6540"/>
                    </a:cubicBezTo>
                    <a:cubicBezTo>
                      <a:pt x="4654485" y="10728"/>
                      <a:pt x="4656837" y="16408"/>
                      <a:pt x="4656837" y="22331"/>
                    </a:cubicBezTo>
                    <a:lnTo>
                      <a:pt x="4656837" y="749612"/>
                    </a:lnTo>
                    <a:cubicBezTo>
                      <a:pt x="4656837" y="761945"/>
                      <a:pt x="4646839" y="771942"/>
                      <a:pt x="4634506" y="771942"/>
                    </a:cubicBezTo>
                    <a:lnTo>
                      <a:pt x="22331" y="771942"/>
                    </a:lnTo>
                    <a:cubicBezTo>
                      <a:pt x="16408" y="771942"/>
                      <a:pt x="10728" y="769590"/>
                      <a:pt x="6540" y="765402"/>
                    </a:cubicBezTo>
                    <a:cubicBezTo>
                      <a:pt x="2353" y="761214"/>
                      <a:pt x="0" y="755534"/>
                      <a:pt x="0" y="749612"/>
                    </a:cubicBezTo>
                    <a:lnTo>
                      <a:pt x="0" y="22331"/>
                    </a:lnTo>
                    <a:cubicBezTo>
                      <a:pt x="0" y="9998"/>
                      <a:pt x="9998" y="0"/>
                      <a:pt x="2233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656837" cy="8005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36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914158" y="-76200"/>
              <a:ext cx="15744934" cy="94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6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60144" y="2451901"/>
            <a:ext cx="2463217" cy="1194296"/>
            <a:chOff x="0" y="0"/>
            <a:chExt cx="972762" cy="4716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2762" cy="471646"/>
            </a:xfrm>
            <a:custGeom>
              <a:avLst/>
              <a:gdLst/>
              <a:ahLst/>
              <a:cxnLst/>
              <a:rect l="l" t="t" r="r" b="b"/>
              <a:pathLst>
                <a:path w="972762" h="471646">
                  <a:moveTo>
                    <a:pt x="160294" y="0"/>
                  </a:moveTo>
                  <a:lnTo>
                    <a:pt x="812469" y="0"/>
                  </a:lnTo>
                  <a:cubicBezTo>
                    <a:pt x="900996" y="0"/>
                    <a:pt x="972762" y="71766"/>
                    <a:pt x="972762" y="160294"/>
                  </a:cubicBezTo>
                  <a:lnTo>
                    <a:pt x="972762" y="311352"/>
                  </a:lnTo>
                  <a:cubicBezTo>
                    <a:pt x="972762" y="353865"/>
                    <a:pt x="955874" y="394636"/>
                    <a:pt x="925813" y="424697"/>
                  </a:cubicBezTo>
                  <a:cubicBezTo>
                    <a:pt x="895753" y="454758"/>
                    <a:pt x="854981" y="471646"/>
                    <a:pt x="812469" y="471646"/>
                  </a:cubicBezTo>
                  <a:lnTo>
                    <a:pt x="160294" y="471646"/>
                  </a:lnTo>
                  <a:cubicBezTo>
                    <a:pt x="117781" y="471646"/>
                    <a:pt x="77010" y="454758"/>
                    <a:pt x="46949" y="424697"/>
                  </a:cubicBezTo>
                  <a:cubicBezTo>
                    <a:pt x="16888" y="394636"/>
                    <a:pt x="0" y="353865"/>
                    <a:pt x="0" y="311352"/>
                  </a:cubicBezTo>
                  <a:lnTo>
                    <a:pt x="0" y="160294"/>
                  </a:lnTo>
                  <a:cubicBezTo>
                    <a:pt x="0" y="117781"/>
                    <a:pt x="16888" y="77010"/>
                    <a:pt x="46949" y="46949"/>
                  </a:cubicBezTo>
                  <a:cubicBezTo>
                    <a:pt x="77010" y="16888"/>
                    <a:pt x="117781" y="0"/>
                    <a:pt x="16029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72762" cy="500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4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Human Turn Ends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48753" y="2787883"/>
            <a:ext cx="1341885" cy="4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949" b="1">
                <a:solidFill>
                  <a:srgbClr val="5E7D9C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980586" y="2451901"/>
            <a:ext cx="1731336" cy="1194296"/>
            <a:chOff x="0" y="0"/>
            <a:chExt cx="683731" cy="4716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3731" cy="471646"/>
            </a:xfrm>
            <a:custGeom>
              <a:avLst/>
              <a:gdLst/>
              <a:ahLst/>
              <a:cxnLst/>
              <a:rect l="l" t="t" r="r" b="b"/>
              <a:pathLst>
                <a:path w="683731" h="471646">
                  <a:moveTo>
                    <a:pt x="228054" y="0"/>
                  </a:moveTo>
                  <a:lnTo>
                    <a:pt x="455677" y="0"/>
                  </a:lnTo>
                  <a:cubicBezTo>
                    <a:pt x="581628" y="0"/>
                    <a:pt x="683731" y="102103"/>
                    <a:pt x="683731" y="228054"/>
                  </a:cubicBezTo>
                  <a:lnTo>
                    <a:pt x="683731" y="243592"/>
                  </a:lnTo>
                  <a:cubicBezTo>
                    <a:pt x="683731" y="369543"/>
                    <a:pt x="581628" y="471646"/>
                    <a:pt x="455677" y="471646"/>
                  </a:cubicBezTo>
                  <a:lnTo>
                    <a:pt x="228054" y="471646"/>
                  </a:lnTo>
                  <a:cubicBezTo>
                    <a:pt x="102103" y="471646"/>
                    <a:pt x="0" y="369543"/>
                    <a:pt x="0" y="243592"/>
                  </a:cubicBezTo>
                  <a:lnTo>
                    <a:pt x="0" y="228054"/>
                  </a:lnTo>
                  <a:cubicBezTo>
                    <a:pt x="0" y="102103"/>
                    <a:pt x="102103" y="0"/>
                    <a:pt x="22805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683731" cy="500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4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Load State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400087" y="2816342"/>
            <a:ext cx="1341885" cy="4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949" b="1">
                <a:solidFill>
                  <a:srgbClr val="5E7D9C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350097" y="2451901"/>
            <a:ext cx="2463217" cy="1194296"/>
            <a:chOff x="0" y="0"/>
            <a:chExt cx="972762" cy="4716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2762" cy="471646"/>
            </a:xfrm>
            <a:custGeom>
              <a:avLst/>
              <a:gdLst/>
              <a:ahLst/>
              <a:cxnLst/>
              <a:rect l="l" t="t" r="r" b="b"/>
              <a:pathLst>
                <a:path w="972762" h="471646">
                  <a:moveTo>
                    <a:pt x="160294" y="0"/>
                  </a:moveTo>
                  <a:lnTo>
                    <a:pt x="812469" y="0"/>
                  </a:lnTo>
                  <a:cubicBezTo>
                    <a:pt x="900996" y="0"/>
                    <a:pt x="972762" y="71766"/>
                    <a:pt x="972762" y="160294"/>
                  </a:cubicBezTo>
                  <a:lnTo>
                    <a:pt x="972762" y="311352"/>
                  </a:lnTo>
                  <a:cubicBezTo>
                    <a:pt x="972762" y="353865"/>
                    <a:pt x="955874" y="394636"/>
                    <a:pt x="925813" y="424697"/>
                  </a:cubicBezTo>
                  <a:cubicBezTo>
                    <a:pt x="895753" y="454758"/>
                    <a:pt x="854981" y="471646"/>
                    <a:pt x="812469" y="471646"/>
                  </a:cubicBezTo>
                  <a:lnTo>
                    <a:pt x="160294" y="471646"/>
                  </a:lnTo>
                  <a:cubicBezTo>
                    <a:pt x="117781" y="471646"/>
                    <a:pt x="77010" y="454758"/>
                    <a:pt x="46949" y="424697"/>
                  </a:cubicBezTo>
                  <a:cubicBezTo>
                    <a:pt x="16888" y="394636"/>
                    <a:pt x="0" y="353865"/>
                    <a:pt x="0" y="311352"/>
                  </a:cubicBezTo>
                  <a:lnTo>
                    <a:pt x="0" y="160294"/>
                  </a:lnTo>
                  <a:cubicBezTo>
                    <a:pt x="0" y="117781"/>
                    <a:pt x="16888" y="77010"/>
                    <a:pt x="46949" y="46949"/>
                  </a:cubicBezTo>
                  <a:cubicBezTo>
                    <a:pt x="77010" y="16888"/>
                    <a:pt x="117781" y="0"/>
                    <a:pt x="16029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972762" cy="500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4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Evaluate Triggers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473057" y="2816342"/>
            <a:ext cx="1341885" cy="4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949" b="1">
                <a:solidFill>
                  <a:srgbClr val="5E7D9C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73385" y="2480360"/>
            <a:ext cx="1731336" cy="1194296"/>
            <a:chOff x="0" y="0"/>
            <a:chExt cx="683731" cy="4716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3731" cy="471646"/>
            </a:xfrm>
            <a:custGeom>
              <a:avLst/>
              <a:gdLst/>
              <a:ahLst/>
              <a:cxnLst/>
              <a:rect l="l" t="t" r="r" b="b"/>
              <a:pathLst>
                <a:path w="683731" h="471646">
                  <a:moveTo>
                    <a:pt x="228054" y="0"/>
                  </a:moveTo>
                  <a:lnTo>
                    <a:pt x="455677" y="0"/>
                  </a:lnTo>
                  <a:cubicBezTo>
                    <a:pt x="581628" y="0"/>
                    <a:pt x="683731" y="102103"/>
                    <a:pt x="683731" y="228054"/>
                  </a:cubicBezTo>
                  <a:lnTo>
                    <a:pt x="683731" y="243592"/>
                  </a:lnTo>
                  <a:cubicBezTo>
                    <a:pt x="683731" y="369543"/>
                    <a:pt x="581628" y="471646"/>
                    <a:pt x="455677" y="471646"/>
                  </a:cubicBezTo>
                  <a:lnTo>
                    <a:pt x="228054" y="471646"/>
                  </a:lnTo>
                  <a:cubicBezTo>
                    <a:pt x="102103" y="471646"/>
                    <a:pt x="0" y="369543"/>
                    <a:pt x="0" y="243592"/>
                  </a:cubicBezTo>
                  <a:lnTo>
                    <a:pt x="0" y="228054"/>
                  </a:lnTo>
                  <a:cubicBezTo>
                    <a:pt x="0" y="102103"/>
                    <a:pt x="102103" y="0"/>
                    <a:pt x="22805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683731" cy="500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4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Call LLM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926613" y="2816342"/>
            <a:ext cx="1341885" cy="4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949" b="1">
                <a:solidFill>
                  <a:srgbClr val="5E7D9C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842896" y="2451901"/>
            <a:ext cx="2463217" cy="1194296"/>
            <a:chOff x="0" y="0"/>
            <a:chExt cx="972762" cy="47164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2762" cy="471646"/>
            </a:xfrm>
            <a:custGeom>
              <a:avLst/>
              <a:gdLst/>
              <a:ahLst/>
              <a:cxnLst/>
              <a:rect l="l" t="t" r="r" b="b"/>
              <a:pathLst>
                <a:path w="972762" h="471646">
                  <a:moveTo>
                    <a:pt x="160294" y="0"/>
                  </a:moveTo>
                  <a:lnTo>
                    <a:pt x="812469" y="0"/>
                  </a:lnTo>
                  <a:cubicBezTo>
                    <a:pt x="900996" y="0"/>
                    <a:pt x="972762" y="71766"/>
                    <a:pt x="972762" y="160294"/>
                  </a:cubicBezTo>
                  <a:lnTo>
                    <a:pt x="972762" y="311352"/>
                  </a:lnTo>
                  <a:cubicBezTo>
                    <a:pt x="972762" y="353865"/>
                    <a:pt x="955874" y="394636"/>
                    <a:pt x="925813" y="424697"/>
                  </a:cubicBezTo>
                  <a:cubicBezTo>
                    <a:pt x="895753" y="454758"/>
                    <a:pt x="854981" y="471646"/>
                    <a:pt x="812469" y="471646"/>
                  </a:cubicBezTo>
                  <a:lnTo>
                    <a:pt x="160294" y="471646"/>
                  </a:lnTo>
                  <a:cubicBezTo>
                    <a:pt x="117781" y="471646"/>
                    <a:pt x="77010" y="454758"/>
                    <a:pt x="46949" y="424697"/>
                  </a:cubicBezTo>
                  <a:cubicBezTo>
                    <a:pt x="16888" y="394636"/>
                    <a:pt x="0" y="353865"/>
                    <a:pt x="0" y="311352"/>
                  </a:cubicBezTo>
                  <a:lnTo>
                    <a:pt x="0" y="160294"/>
                  </a:lnTo>
                  <a:cubicBezTo>
                    <a:pt x="0" y="117781"/>
                    <a:pt x="16888" y="77010"/>
                    <a:pt x="46949" y="46949"/>
                  </a:cubicBezTo>
                  <a:cubicBezTo>
                    <a:pt x="77010" y="16888"/>
                    <a:pt x="117781" y="0"/>
                    <a:pt x="16029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972762" cy="500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4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Apply Filters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966830" y="2816342"/>
            <a:ext cx="1341885" cy="4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949" b="1">
                <a:solidFill>
                  <a:srgbClr val="5E7D9C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4944288" y="2451901"/>
            <a:ext cx="2463217" cy="1194296"/>
            <a:chOff x="0" y="0"/>
            <a:chExt cx="972762" cy="47164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72762" cy="471646"/>
            </a:xfrm>
            <a:custGeom>
              <a:avLst/>
              <a:gdLst/>
              <a:ahLst/>
              <a:cxnLst/>
              <a:rect l="l" t="t" r="r" b="b"/>
              <a:pathLst>
                <a:path w="972762" h="471646">
                  <a:moveTo>
                    <a:pt x="160294" y="0"/>
                  </a:moveTo>
                  <a:lnTo>
                    <a:pt x="812469" y="0"/>
                  </a:lnTo>
                  <a:cubicBezTo>
                    <a:pt x="900996" y="0"/>
                    <a:pt x="972762" y="71766"/>
                    <a:pt x="972762" y="160294"/>
                  </a:cubicBezTo>
                  <a:lnTo>
                    <a:pt x="972762" y="311352"/>
                  </a:lnTo>
                  <a:cubicBezTo>
                    <a:pt x="972762" y="353865"/>
                    <a:pt x="955874" y="394636"/>
                    <a:pt x="925813" y="424697"/>
                  </a:cubicBezTo>
                  <a:cubicBezTo>
                    <a:pt x="895753" y="454758"/>
                    <a:pt x="854981" y="471646"/>
                    <a:pt x="812469" y="471646"/>
                  </a:cubicBezTo>
                  <a:lnTo>
                    <a:pt x="160294" y="471646"/>
                  </a:lnTo>
                  <a:cubicBezTo>
                    <a:pt x="117781" y="471646"/>
                    <a:pt x="77010" y="454758"/>
                    <a:pt x="46949" y="424697"/>
                  </a:cubicBezTo>
                  <a:cubicBezTo>
                    <a:pt x="16888" y="394636"/>
                    <a:pt x="0" y="353865"/>
                    <a:pt x="0" y="311352"/>
                  </a:cubicBezTo>
                  <a:lnTo>
                    <a:pt x="0" y="160294"/>
                  </a:lnTo>
                  <a:cubicBezTo>
                    <a:pt x="0" y="117781"/>
                    <a:pt x="16888" y="77010"/>
                    <a:pt x="46949" y="46949"/>
                  </a:cubicBezTo>
                  <a:cubicBezTo>
                    <a:pt x="77010" y="16888"/>
                    <a:pt x="117781" y="0"/>
                    <a:pt x="160294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972762" cy="500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4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 Decision</a:t>
              </a:r>
            </a:p>
          </p:txBody>
        </p:sp>
      </p:grpSp>
      <p:graphicFrame>
        <p:nvGraphicFramePr>
          <p:cNvPr id="3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860029"/>
              </p:ext>
            </p:extLst>
          </p:nvPr>
        </p:nvGraphicFramePr>
        <p:xfrm>
          <a:off x="1028700" y="5334000"/>
          <a:ext cx="16230599" cy="4229101"/>
        </p:xfrm>
        <a:graphic>
          <a:graphicData uri="http://schemas.openxmlformats.org/drawingml/2006/table">
            <a:tbl>
              <a:tblPr/>
              <a:tblGrid>
                <a:gridCol w="4236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4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9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2614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Type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Trigger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882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Turn-based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Every 6 human turns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Forced summary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882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Time-based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Silence, inactive user, 30 min limit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Prompt / Solicitation / Conclusion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82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Event-based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"Ready to conclude" button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Contextual message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Box 31"/>
          <p:cNvSpPr txBox="1"/>
          <p:nvPr/>
        </p:nvSpPr>
        <p:spPr>
          <a:xfrm>
            <a:off x="0" y="598257"/>
            <a:ext cx="6097505" cy="62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1"/>
              </a:lnSpc>
            </a:pPr>
            <a:r>
              <a:rPr lang="en-US" sz="3708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Moderation Pipeline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8554" y="4646295"/>
            <a:ext cx="4457700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Trigger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58" y="3226979"/>
            <a:ext cx="17774884" cy="5109494"/>
            <a:chOff x="0" y="0"/>
            <a:chExt cx="4676748" cy="1344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76747" cy="1344358"/>
            </a:xfrm>
            <a:custGeom>
              <a:avLst/>
              <a:gdLst/>
              <a:ahLst/>
              <a:cxnLst/>
              <a:rect l="l" t="t" r="r" b="b"/>
              <a:pathLst>
                <a:path w="4676747" h="1344358">
                  <a:moveTo>
                    <a:pt x="22213" y="0"/>
                  </a:moveTo>
                  <a:lnTo>
                    <a:pt x="4654534" y="0"/>
                  </a:lnTo>
                  <a:cubicBezTo>
                    <a:pt x="4660426" y="0"/>
                    <a:pt x="4666076" y="2340"/>
                    <a:pt x="4670241" y="6506"/>
                  </a:cubicBezTo>
                  <a:cubicBezTo>
                    <a:pt x="4674407" y="10672"/>
                    <a:pt x="4676747" y="16322"/>
                    <a:pt x="4676747" y="22213"/>
                  </a:cubicBezTo>
                  <a:lnTo>
                    <a:pt x="4676747" y="1322145"/>
                  </a:lnTo>
                  <a:cubicBezTo>
                    <a:pt x="4676747" y="1328036"/>
                    <a:pt x="4674407" y="1333686"/>
                    <a:pt x="4670241" y="1337852"/>
                  </a:cubicBezTo>
                  <a:cubicBezTo>
                    <a:pt x="4666076" y="1342018"/>
                    <a:pt x="4660426" y="1344358"/>
                    <a:pt x="4654534" y="1344358"/>
                  </a:cubicBezTo>
                  <a:lnTo>
                    <a:pt x="22213" y="1344358"/>
                  </a:lnTo>
                  <a:cubicBezTo>
                    <a:pt x="16322" y="1344358"/>
                    <a:pt x="10672" y="1342018"/>
                    <a:pt x="6506" y="1337852"/>
                  </a:cubicBezTo>
                  <a:cubicBezTo>
                    <a:pt x="2340" y="1333686"/>
                    <a:pt x="0" y="1328036"/>
                    <a:pt x="0" y="1322145"/>
                  </a:cubicBezTo>
                  <a:lnTo>
                    <a:pt x="0" y="22213"/>
                  </a:lnTo>
                  <a:cubicBezTo>
                    <a:pt x="0" y="16322"/>
                    <a:pt x="2340" y="10672"/>
                    <a:pt x="6506" y="6506"/>
                  </a:cubicBezTo>
                  <a:cubicBezTo>
                    <a:pt x="10672" y="2340"/>
                    <a:pt x="16322" y="0"/>
                    <a:pt x="2221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676748" cy="1372933"/>
            </a:xfrm>
            <a:prstGeom prst="rect">
              <a:avLst/>
            </a:prstGeom>
          </p:spPr>
          <p:txBody>
            <a:bodyPr lIns="50851" tIns="50851" rIns="50851" bIns="50851" rtlCol="0" anchor="ctr"/>
            <a:lstStyle/>
            <a:p>
              <a:pPr algn="ctr">
                <a:lnSpc>
                  <a:spcPts val="233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62420" y="2502397"/>
            <a:ext cx="11859189" cy="7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61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717590" y="4331006"/>
            <a:ext cx="5208322" cy="3238682"/>
            <a:chOff x="0" y="0"/>
            <a:chExt cx="2284683" cy="1420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4683" cy="1420681"/>
            </a:xfrm>
            <a:custGeom>
              <a:avLst/>
              <a:gdLst/>
              <a:ahLst/>
              <a:cxnLst/>
              <a:rect l="l" t="t" r="r" b="b"/>
              <a:pathLst>
                <a:path w="2284683" h="1420681">
                  <a:moveTo>
                    <a:pt x="75809" y="0"/>
                  </a:moveTo>
                  <a:lnTo>
                    <a:pt x="2208874" y="0"/>
                  </a:lnTo>
                  <a:cubicBezTo>
                    <a:pt x="2228980" y="0"/>
                    <a:pt x="2248263" y="7987"/>
                    <a:pt x="2262480" y="22204"/>
                  </a:cubicBezTo>
                  <a:cubicBezTo>
                    <a:pt x="2276696" y="36421"/>
                    <a:pt x="2284683" y="55703"/>
                    <a:pt x="2284683" y="75809"/>
                  </a:cubicBezTo>
                  <a:lnTo>
                    <a:pt x="2284683" y="1344872"/>
                  </a:lnTo>
                  <a:cubicBezTo>
                    <a:pt x="2284683" y="1386740"/>
                    <a:pt x="2250742" y="1420681"/>
                    <a:pt x="2208874" y="1420681"/>
                  </a:cubicBezTo>
                  <a:lnTo>
                    <a:pt x="75809" y="1420681"/>
                  </a:lnTo>
                  <a:cubicBezTo>
                    <a:pt x="55703" y="1420681"/>
                    <a:pt x="36421" y="1412694"/>
                    <a:pt x="22204" y="1398477"/>
                  </a:cubicBezTo>
                  <a:cubicBezTo>
                    <a:pt x="7987" y="1384260"/>
                    <a:pt x="0" y="1364978"/>
                    <a:pt x="0" y="1344872"/>
                  </a:cubicBezTo>
                  <a:lnTo>
                    <a:pt x="0" y="75809"/>
                  </a:lnTo>
                  <a:cubicBezTo>
                    <a:pt x="0" y="55703"/>
                    <a:pt x="7987" y="36421"/>
                    <a:pt x="22204" y="22204"/>
                  </a:cubicBezTo>
                  <a:cubicBezTo>
                    <a:pt x="36421" y="7987"/>
                    <a:pt x="55703" y="0"/>
                    <a:pt x="75809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284683" cy="1449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Moderator role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Intervention rules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87961" y="5228528"/>
            <a:ext cx="1213233" cy="43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5"/>
              </a:lnSpc>
              <a:spcBef>
                <a:spcPct val="0"/>
              </a:spcBef>
            </a:pPr>
            <a:r>
              <a:rPr lang="en-US" sz="2655" b="1">
                <a:solidFill>
                  <a:srgbClr val="5E7D9C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399722" y="2273078"/>
            <a:ext cx="9531339" cy="62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1"/>
              </a:lnSpc>
            </a:pPr>
            <a:r>
              <a:rPr lang="en-US" sz="3708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Prompt Engineering - Structure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3569" y="3709990"/>
            <a:ext cx="3782379" cy="46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z="2700" b="1">
                <a:solidFill>
                  <a:srgbClr val="5E7D9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SYSTEM PROMPT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380722" y="4331006"/>
            <a:ext cx="5208322" cy="3258020"/>
            <a:chOff x="0" y="0"/>
            <a:chExt cx="2284683" cy="14291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84683" cy="1429164"/>
            </a:xfrm>
            <a:custGeom>
              <a:avLst/>
              <a:gdLst/>
              <a:ahLst/>
              <a:cxnLst/>
              <a:rect l="l" t="t" r="r" b="b"/>
              <a:pathLst>
                <a:path w="2284683" h="1429164">
                  <a:moveTo>
                    <a:pt x="75809" y="0"/>
                  </a:moveTo>
                  <a:lnTo>
                    <a:pt x="2208874" y="0"/>
                  </a:lnTo>
                  <a:cubicBezTo>
                    <a:pt x="2228980" y="0"/>
                    <a:pt x="2248263" y="7987"/>
                    <a:pt x="2262480" y="22204"/>
                  </a:cubicBezTo>
                  <a:cubicBezTo>
                    <a:pt x="2276696" y="36421"/>
                    <a:pt x="2284683" y="55703"/>
                    <a:pt x="2284683" y="75809"/>
                  </a:cubicBezTo>
                  <a:lnTo>
                    <a:pt x="2284683" y="1353355"/>
                  </a:lnTo>
                  <a:cubicBezTo>
                    <a:pt x="2284683" y="1395223"/>
                    <a:pt x="2250742" y="1429164"/>
                    <a:pt x="2208874" y="1429164"/>
                  </a:cubicBezTo>
                  <a:lnTo>
                    <a:pt x="75809" y="1429164"/>
                  </a:lnTo>
                  <a:cubicBezTo>
                    <a:pt x="55703" y="1429164"/>
                    <a:pt x="36421" y="1421177"/>
                    <a:pt x="22204" y="1406960"/>
                  </a:cubicBezTo>
                  <a:cubicBezTo>
                    <a:pt x="7987" y="1392743"/>
                    <a:pt x="0" y="1373461"/>
                    <a:pt x="0" y="1353355"/>
                  </a:cubicBezTo>
                  <a:lnTo>
                    <a:pt x="0" y="75809"/>
                  </a:lnTo>
                  <a:cubicBezTo>
                    <a:pt x="0" y="55703"/>
                    <a:pt x="7987" y="36421"/>
                    <a:pt x="22204" y="22204"/>
                  </a:cubicBezTo>
                  <a:cubicBezTo>
                    <a:pt x="36421" y="7987"/>
                    <a:pt x="55703" y="0"/>
                    <a:pt x="75809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284683" cy="1457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Current summary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Last turn text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Speaker name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Turns per user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Session Phase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246701" y="3709990"/>
            <a:ext cx="3782379" cy="46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z="2700" b="1">
                <a:solidFill>
                  <a:srgbClr val="5E7D9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USER MESSAGE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263903" y="4311668"/>
            <a:ext cx="5208322" cy="3258020"/>
            <a:chOff x="0" y="0"/>
            <a:chExt cx="2284683" cy="14291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84683" cy="1429164"/>
            </a:xfrm>
            <a:custGeom>
              <a:avLst/>
              <a:gdLst/>
              <a:ahLst/>
              <a:cxnLst/>
              <a:rect l="l" t="t" r="r" b="b"/>
              <a:pathLst>
                <a:path w="2284683" h="1429164">
                  <a:moveTo>
                    <a:pt x="75809" y="0"/>
                  </a:moveTo>
                  <a:lnTo>
                    <a:pt x="2208874" y="0"/>
                  </a:lnTo>
                  <a:cubicBezTo>
                    <a:pt x="2228980" y="0"/>
                    <a:pt x="2248263" y="7987"/>
                    <a:pt x="2262480" y="22204"/>
                  </a:cubicBezTo>
                  <a:cubicBezTo>
                    <a:pt x="2276696" y="36421"/>
                    <a:pt x="2284683" y="55703"/>
                    <a:pt x="2284683" y="75809"/>
                  </a:cubicBezTo>
                  <a:lnTo>
                    <a:pt x="2284683" y="1353355"/>
                  </a:lnTo>
                  <a:cubicBezTo>
                    <a:pt x="2284683" y="1395223"/>
                    <a:pt x="2250742" y="1429164"/>
                    <a:pt x="2208874" y="1429164"/>
                  </a:cubicBezTo>
                  <a:lnTo>
                    <a:pt x="75809" y="1429164"/>
                  </a:lnTo>
                  <a:cubicBezTo>
                    <a:pt x="55703" y="1429164"/>
                    <a:pt x="36421" y="1421177"/>
                    <a:pt x="22204" y="1406960"/>
                  </a:cubicBezTo>
                  <a:cubicBezTo>
                    <a:pt x="7987" y="1392743"/>
                    <a:pt x="0" y="1373461"/>
                    <a:pt x="0" y="1353355"/>
                  </a:cubicBezTo>
                  <a:lnTo>
                    <a:pt x="0" y="75809"/>
                  </a:lnTo>
                  <a:cubicBezTo>
                    <a:pt x="0" y="55703"/>
                    <a:pt x="7987" y="36421"/>
                    <a:pt x="22204" y="22204"/>
                  </a:cubicBezTo>
                  <a:cubicBezTo>
                    <a:pt x="36421" y="7987"/>
                    <a:pt x="55703" y="0"/>
                    <a:pt x="75809" y="0"/>
                  </a:cubicBezTo>
                  <a:close/>
                </a:path>
              </a:pathLst>
            </a:custGeom>
            <a:solidFill>
              <a:srgbClr val="5E7D9C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284683" cy="1457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Updated summary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should_ai_speak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message_to_say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reason</a:t>
              </a:r>
            </a:p>
            <a:p>
              <a:pPr marL="626106" lvl="1" indent="-313053" algn="l">
                <a:lnSpc>
                  <a:spcPts val="3566"/>
                </a:lnSpc>
                <a:buFont typeface="Arial"/>
                <a:buChar char="•"/>
              </a:pPr>
              <a:r>
                <a:rPr lang="en-US" sz="2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score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731213" y="5228528"/>
            <a:ext cx="1213233" cy="43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5"/>
              </a:lnSpc>
              <a:spcBef>
                <a:spcPct val="0"/>
              </a:spcBef>
            </a:pPr>
            <a:r>
              <a:rPr lang="en-US" sz="2655" b="1">
                <a:solidFill>
                  <a:srgbClr val="5E7D9C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12894" y="3690652"/>
            <a:ext cx="3782379" cy="46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z="2700" b="1">
                <a:solidFill>
                  <a:srgbClr val="5E7D9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JSON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404" y="299378"/>
            <a:ext cx="17738939" cy="9723222"/>
            <a:chOff x="0" y="0"/>
            <a:chExt cx="9525330" cy="52211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5330" cy="5221107"/>
            </a:xfrm>
            <a:custGeom>
              <a:avLst/>
              <a:gdLst/>
              <a:ahLst/>
              <a:cxnLst/>
              <a:rect l="l" t="t" r="r" b="b"/>
              <a:pathLst>
                <a:path w="9525330" h="5221107">
                  <a:moveTo>
                    <a:pt x="10911" y="0"/>
                  </a:moveTo>
                  <a:lnTo>
                    <a:pt x="9514419" y="0"/>
                  </a:lnTo>
                  <a:cubicBezTo>
                    <a:pt x="9517313" y="0"/>
                    <a:pt x="9520089" y="1150"/>
                    <a:pt x="9522134" y="3196"/>
                  </a:cubicBezTo>
                  <a:cubicBezTo>
                    <a:pt x="9524181" y="5242"/>
                    <a:pt x="9525330" y="8017"/>
                    <a:pt x="9525330" y="10911"/>
                  </a:cubicBezTo>
                  <a:lnTo>
                    <a:pt x="9525330" y="5210196"/>
                  </a:lnTo>
                  <a:cubicBezTo>
                    <a:pt x="9525330" y="5216222"/>
                    <a:pt x="9520445" y="5221107"/>
                    <a:pt x="9514419" y="5221107"/>
                  </a:cubicBezTo>
                  <a:lnTo>
                    <a:pt x="10911" y="5221107"/>
                  </a:lnTo>
                  <a:cubicBezTo>
                    <a:pt x="4885" y="5221107"/>
                    <a:pt x="0" y="5216222"/>
                    <a:pt x="0" y="5210196"/>
                  </a:cubicBezTo>
                  <a:lnTo>
                    <a:pt x="0" y="10911"/>
                  </a:lnTo>
                  <a:cubicBezTo>
                    <a:pt x="0" y="4885"/>
                    <a:pt x="4885" y="0"/>
                    <a:pt x="1091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525330" cy="5249682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4691" y="1190291"/>
            <a:ext cx="8026031" cy="8532153"/>
            <a:chOff x="0" y="0"/>
            <a:chExt cx="2113852" cy="22471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3852" cy="2247151"/>
            </a:xfrm>
            <a:custGeom>
              <a:avLst/>
              <a:gdLst/>
              <a:ahLst/>
              <a:cxnLst/>
              <a:rect l="l" t="t" r="r" b="b"/>
              <a:pathLst>
                <a:path w="2113852" h="2247151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2197957"/>
                  </a:lnTo>
                  <a:cubicBezTo>
                    <a:pt x="2113852" y="2225126"/>
                    <a:pt x="2091827" y="2247151"/>
                    <a:pt x="2064657" y="2247151"/>
                  </a:cubicBezTo>
                  <a:lnTo>
                    <a:pt x="49195" y="2247151"/>
                  </a:lnTo>
                  <a:cubicBezTo>
                    <a:pt x="22025" y="2247151"/>
                    <a:pt x="0" y="2225126"/>
                    <a:pt x="0" y="2197957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6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13852" cy="2266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4691" y="1190290"/>
            <a:ext cx="8026031" cy="4943809"/>
            <a:chOff x="0" y="0"/>
            <a:chExt cx="2113852" cy="12927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13852" cy="1292742"/>
            </a:xfrm>
            <a:custGeom>
              <a:avLst/>
              <a:gdLst/>
              <a:ahLst/>
              <a:cxnLst/>
              <a:rect l="l" t="t" r="r" b="b"/>
              <a:pathLst>
                <a:path w="2113852" h="1292742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1243547"/>
                  </a:lnTo>
                  <a:cubicBezTo>
                    <a:pt x="2113852" y="1270717"/>
                    <a:pt x="2091827" y="1292742"/>
                    <a:pt x="2064657" y="1292742"/>
                  </a:cubicBezTo>
                  <a:lnTo>
                    <a:pt x="49195" y="1292742"/>
                  </a:lnTo>
                  <a:cubicBezTo>
                    <a:pt x="22025" y="1292742"/>
                    <a:pt x="0" y="1270717"/>
                    <a:pt x="0" y="1243547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8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113852" cy="1311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44680" y="1199816"/>
            <a:ext cx="8026031" cy="8532153"/>
            <a:chOff x="0" y="0"/>
            <a:chExt cx="2113852" cy="22471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13852" cy="2247151"/>
            </a:xfrm>
            <a:custGeom>
              <a:avLst/>
              <a:gdLst/>
              <a:ahLst/>
              <a:cxnLst/>
              <a:rect l="l" t="t" r="r" b="b"/>
              <a:pathLst>
                <a:path w="2113852" h="2247151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2197957"/>
                  </a:lnTo>
                  <a:cubicBezTo>
                    <a:pt x="2113852" y="2225126"/>
                    <a:pt x="2091827" y="2247151"/>
                    <a:pt x="2064657" y="2247151"/>
                  </a:cubicBezTo>
                  <a:lnTo>
                    <a:pt x="49195" y="2247151"/>
                  </a:lnTo>
                  <a:cubicBezTo>
                    <a:pt x="22025" y="2247151"/>
                    <a:pt x="0" y="2225126"/>
                    <a:pt x="0" y="2197957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6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113852" cy="2266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44680" y="1199816"/>
            <a:ext cx="8026031" cy="4256551"/>
            <a:chOff x="0" y="0"/>
            <a:chExt cx="2113852" cy="11210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13852" cy="1121067"/>
            </a:xfrm>
            <a:custGeom>
              <a:avLst/>
              <a:gdLst/>
              <a:ahLst/>
              <a:cxnLst/>
              <a:rect l="l" t="t" r="r" b="b"/>
              <a:pathLst>
                <a:path w="2113852" h="1121067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1071872"/>
                  </a:lnTo>
                  <a:cubicBezTo>
                    <a:pt x="2113852" y="1099042"/>
                    <a:pt x="2091827" y="1121067"/>
                    <a:pt x="2064657" y="1121067"/>
                  </a:cubicBezTo>
                  <a:lnTo>
                    <a:pt x="49195" y="1121067"/>
                  </a:lnTo>
                  <a:cubicBezTo>
                    <a:pt x="22025" y="1121067"/>
                    <a:pt x="0" y="1099042"/>
                    <a:pt x="0" y="1071872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8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113852" cy="1140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65281" y="467723"/>
            <a:ext cx="6470599" cy="69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dirty="0">
                <a:solidFill>
                  <a:srgbClr val="5E7D9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Normal Mode Prompt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19544" y="488875"/>
            <a:ext cx="6876302" cy="69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dirty="0">
                <a:solidFill>
                  <a:srgbClr val="5E7D9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Forced Summary Prompt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1505" y="1740494"/>
            <a:ext cx="7093973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Purpose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: After each human turn, decide if the moderator should intervene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1505" y="2492969"/>
            <a:ext cx="7093973" cy="38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Intervention criteria: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Monopolization → 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one participant dominates</a:t>
            </a: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Exclusion → 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someone is not participating</a:t>
            </a: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Off-topic → 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discussion goes off track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Conflict → 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aggressive tones or personal</a:t>
            </a: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attacks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Direct request → 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participant asks for help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71505" y="6293444"/>
            <a:ext cx="6858152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Output example: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 b="1">
                <a:solidFill>
                  <a:srgbClr val="FFFFFF"/>
                </a:solidFill>
                <a:latin typeface="TT Interphases Mono Bold"/>
                <a:ea typeface="TT Interphases Mono Bold"/>
                <a:cs typeface="TT Interphases Mono Bold"/>
                <a:sym typeface="TT Interphases Mono Bold"/>
              </a:rPr>
              <a:t> </a:t>
            </a: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{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"should_ai_speak": true,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"message_to_say": "Lucia, what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 do you think?",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"reason": "exclusion",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"intervention_score": 0.75 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} 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TT Interphases Mono"/>
              <a:ea typeface="TT Interphases Mono"/>
              <a:cs typeface="TT Interphases Mono"/>
              <a:sym typeface="TT Interphases Mon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71387" y="1740494"/>
            <a:ext cx="722485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Purpose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: Every 6 human turns, generate a discussion summary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71387" y="2493989"/>
            <a:ext cx="7098735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Message structure: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Gentle correction (only if needed)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Recap of clues discussed so far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Open question on unexplored aspects 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endParaRPr lang="en-US" sz="2499" b="1" dirty="0">
              <a:solidFill>
                <a:srgbClr val="FFFFFF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873844" y="5322914"/>
            <a:ext cx="7224854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Output example: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{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"message_to_say": "So far we've    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 heard that the butler had access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 to the room, but no one has    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 mentioned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 the weapon yet...",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"correction_reason": null 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}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TT Interphases Mono"/>
              <a:ea typeface="TT Interphases Mono"/>
              <a:cs typeface="TT Interphases Mono"/>
              <a:sym typeface="TT Interphases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404" y="299378"/>
            <a:ext cx="17738939" cy="9723222"/>
            <a:chOff x="0" y="0"/>
            <a:chExt cx="9525330" cy="52211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5330" cy="5221107"/>
            </a:xfrm>
            <a:custGeom>
              <a:avLst/>
              <a:gdLst/>
              <a:ahLst/>
              <a:cxnLst/>
              <a:rect l="l" t="t" r="r" b="b"/>
              <a:pathLst>
                <a:path w="9525330" h="5221107">
                  <a:moveTo>
                    <a:pt x="10911" y="0"/>
                  </a:moveTo>
                  <a:lnTo>
                    <a:pt x="9514419" y="0"/>
                  </a:lnTo>
                  <a:cubicBezTo>
                    <a:pt x="9517313" y="0"/>
                    <a:pt x="9520089" y="1150"/>
                    <a:pt x="9522134" y="3196"/>
                  </a:cubicBezTo>
                  <a:cubicBezTo>
                    <a:pt x="9524181" y="5242"/>
                    <a:pt x="9525330" y="8017"/>
                    <a:pt x="9525330" y="10911"/>
                  </a:cubicBezTo>
                  <a:lnTo>
                    <a:pt x="9525330" y="5210196"/>
                  </a:lnTo>
                  <a:cubicBezTo>
                    <a:pt x="9525330" y="5216222"/>
                    <a:pt x="9520445" y="5221107"/>
                    <a:pt x="9514419" y="5221107"/>
                  </a:cubicBezTo>
                  <a:lnTo>
                    <a:pt x="10911" y="5221107"/>
                  </a:lnTo>
                  <a:cubicBezTo>
                    <a:pt x="4885" y="5221107"/>
                    <a:pt x="0" y="5216222"/>
                    <a:pt x="0" y="5210196"/>
                  </a:cubicBezTo>
                  <a:lnTo>
                    <a:pt x="0" y="10911"/>
                  </a:lnTo>
                  <a:cubicBezTo>
                    <a:pt x="0" y="4885"/>
                    <a:pt x="4885" y="0"/>
                    <a:pt x="1091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525330" cy="5249682"/>
            </a:xfrm>
            <a:prstGeom prst="rect">
              <a:avLst/>
            </a:prstGeom>
          </p:spPr>
          <p:txBody>
            <a:bodyPr lIns="24916" tIns="24916" rIns="24916" bIns="24916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4691" y="1190291"/>
            <a:ext cx="8026031" cy="8532153"/>
            <a:chOff x="0" y="0"/>
            <a:chExt cx="2113852" cy="22471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3852" cy="2247151"/>
            </a:xfrm>
            <a:custGeom>
              <a:avLst/>
              <a:gdLst/>
              <a:ahLst/>
              <a:cxnLst/>
              <a:rect l="l" t="t" r="r" b="b"/>
              <a:pathLst>
                <a:path w="2113852" h="2247151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2197957"/>
                  </a:lnTo>
                  <a:cubicBezTo>
                    <a:pt x="2113852" y="2225126"/>
                    <a:pt x="2091827" y="2247151"/>
                    <a:pt x="2064657" y="2247151"/>
                  </a:cubicBezTo>
                  <a:lnTo>
                    <a:pt x="49195" y="2247151"/>
                  </a:lnTo>
                  <a:cubicBezTo>
                    <a:pt x="22025" y="2247151"/>
                    <a:pt x="0" y="2225126"/>
                    <a:pt x="0" y="2197957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6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13852" cy="2266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4691" y="1190291"/>
            <a:ext cx="8026031" cy="5750535"/>
            <a:chOff x="0" y="0"/>
            <a:chExt cx="2113852" cy="15145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13852" cy="1514544"/>
            </a:xfrm>
            <a:custGeom>
              <a:avLst/>
              <a:gdLst/>
              <a:ahLst/>
              <a:cxnLst/>
              <a:rect l="l" t="t" r="r" b="b"/>
              <a:pathLst>
                <a:path w="2113852" h="1514544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1465350"/>
                  </a:lnTo>
                  <a:cubicBezTo>
                    <a:pt x="2113852" y="1492519"/>
                    <a:pt x="2091827" y="1514544"/>
                    <a:pt x="2064657" y="1514544"/>
                  </a:cubicBezTo>
                  <a:lnTo>
                    <a:pt x="49195" y="1514544"/>
                  </a:lnTo>
                  <a:cubicBezTo>
                    <a:pt x="22025" y="1514544"/>
                    <a:pt x="0" y="1492519"/>
                    <a:pt x="0" y="1465350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8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113852" cy="1533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44680" y="1199816"/>
            <a:ext cx="8026031" cy="8532153"/>
            <a:chOff x="0" y="0"/>
            <a:chExt cx="2113852" cy="22471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13852" cy="2247151"/>
            </a:xfrm>
            <a:custGeom>
              <a:avLst/>
              <a:gdLst/>
              <a:ahLst/>
              <a:cxnLst/>
              <a:rect l="l" t="t" r="r" b="b"/>
              <a:pathLst>
                <a:path w="2113852" h="2247151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2197957"/>
                  </a:lnTo>
                  <a:cubicBezTo>
                    <a:pt x="2113852" y="2225126"/>
                    <a:pt x="2091827" y="2247151"/>
                    <a:pt x="2064657" y="2247151"/>
                  </a:cubicBezTo>
                  <a:lnTo>
                    <a:pt x="49195" y="2247151"/>
                  </a:lnTo>
                  <a:cubicBezTo>
                    <a:pt x="22025" y="2247151"/>
                    <a:pt x="0" y="2225126"/>
                    <a:pt x="0" y="2197957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6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113852" cy="2266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44680" y="1199816"/>
            <a:ext cx="8026031" cy="6763084"/>
            <a:chOff x="0" y="0"/>
            <a:chExt cx="2113852" cy="1714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13852" cy="1714826"/>
            </a:xfrm>
            <a:custGeom>
              <a:avLst/>
              <a:gdLst/>
              <a:ahLst/>
              <a:cxnLst/>
              <a:rect l="l" t="t" r="r" b="b"/>
              <a:pathLst>
                <a:path w="2113852" h="1714826">
                  <a:moveTo>
                    <a:pt x="49195" y="0"/>
                  </a:moveTo>
                  <a:lnTo>
                    <a:pt x="2064657" y="0"/>
                  </a:lnTo>
                  <a:cubicBezTo>
                    <a:pt x="2091827" y="0"/>
                    <a:pt x="2113852" y="22025"/>
                    <a:pt x="2113852" y="49195"/>
                  </a:cubicBezTo>
                  <a:lnTo>
                    <a:pt x="2113852" y="1665631"/>
                  </a:lnTo>
                  <a:cubicBezTo>
                    <a:pt x="2113852" y="1692801"/>
                    <a:pt x="2091827" y="1714826"/>
                    <a:pt x="2064657" y="1714826"/>
                  </a:cubicBezTo>
                  <a:lnTo>
                    <a:pt x="49195" y="1714826"/>
                  </a:lnTo>
                  <a:cubicBezTo>
                    <a:pt x="22025" y="1714826"/>
                    <a:pt x="0" y="1692801"/>
                    <a:pt x="0" y="1665631"/>
                  </a:cubicBezTo>
                  <a:lnTo>
                    <a:pt x="0" y="49195"/>
                  </a:lnTo>
                  <a:cubicBezTo>
                    <a:pt x="0" y="22025"/>
                    <a:pt x="22025" y="0"/>
                    <a:pt x="49195" y="0"/>
                  </a:cubicBezTo>
                  <a:close/>
                </a:path>
              </a:pathLst>
            </a:custGeom>
            <a:solidFill>
              <a:srgbClr val="5E7D9C">
                <a:alpha val="8000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113852" cy="1733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28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21769" y="503857"/>
            <a:ext cx="8193444" cy="69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dirty="0">
                <a:solidFill>
                  <a:srgbClr val="5E7D9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Forced Conclusion Prompt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22482" y="544351"/>
            <a:ext cx="7670426" cy="69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dirty="0">
                <a:solidFill>
                  <a:srgbClr val="5E7D9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Report Generation Prompt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1505" y="1740494"/>
            <a:ext cx="7093973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Purpose: 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Generate final message when session ends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1505" y="2661400"/>
            <a:ext cx="7093973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Message structure: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Discussion summary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Voting instructions </a:t>
            </a:r>
          </a:p>
          <a:p>
            <a:pPr marL="539748" lvl="1" indent="-269874" algn="l">
              <a:lnSpc>
                <a:spcPts val="3074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Thank participants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9414" y="7161239"/>
            <a:ext cx="7244985" cy="2362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Output example: 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{ "</a:t>
            </a:r>
            <a:r>
              <a:rPr lang="en-US" sz="2499" dirty="0" err="1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message_to_say</a:t>
            </a: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": "Great work!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You analyzed several clues... Now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select who you think is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 dirty="0" err="1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guilty.Thanks</a:t>
            </a: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 for using </a:t>
            </a:r>
            <a:r>
              <a:rPr lang="en-US" sz="2499" dirty="0" err="1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AIutami</a:t>
            </a: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!"</a:t>
            </a:r>
          </a:p>
          <a:p>
            <a:pPr marL="539748" lvl="1" indent="-269874" algn="l">
              <a:lnSpc>
                <a:spcPts val="3074"/>
              </a:lnSpc>
              <a:buAutoNum type="arabicPeriod"/>
            </a:pP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}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54794" y="1740494"/>
            <a:ext cx="722485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Purpose</a:t>
            </a:r>
            <a:r>
              <a:rPr lang="en-US" sz="24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: Generate text report for completed session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54794" y="2661400"/>
            <a:ext cx="7375389" cy="457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Report sections: </a:t>
            </a:r>
          </a:p>
          <a:p>
            <a:pPr marL="539748" lvl="1" indent="-269874" algn="l">
              <a:lnSpc>
                <a:spcPts val="3074"/>
              </a:lnSpc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Final result </a:t>
            </a:r>
          </a:p>
          <a:p>
            <a:pPr marL="1079496" lvl="2" indent="-359832" algn="l">
              <a:lnSpc>
                <a:spcPts val="3074"/>
              </a:lnSpc>
              <a:buFont typeface="Arial"/>
              <a:buChar char="⚬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→ </a:t>
            </a:r>
            <a:r>
              <a:rPr lang="en-US" sz="2499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guilty party, how many  guessed correctly </a:t>
            </a:r>
          </a:p>
          <a:p>
            <a:pPr marL="539748" lvl="1" indent="-269874" algn="l">
              <a:lnSpc>
                <a:spcPts val="3074"/>
              </a:lnSpc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Participant votes </a:t>
            </a:r>
          </a:p>
          <a:p>
            <a:pPr marL="1079496" lvl="2" indent="-359832" algn="l">
              <a:lnSpc>
                <a:spcPts val="3074"/>
              </a:lnSpc>
              <a:buFont typeface="Arial"/>
              <a:buChar char="⚬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→ </a:t>
            </a:r>
            <a:r>
              <a:rPr lang="en-US" sz="2499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who chose whom</a:t>
            </a: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(✓/✗) </a:t>
            </a:r>
          </a:p>
          <a:p>
            <a:pPr marL="539748" lvl="1" indent="-269874" algn="l">
              <a:lnSpc>
                <a:spcPts val="3074"/>
              </a:lnSpc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Participation stats </a:t>
            </a:r>
          </a:p>
          <a:p>
            <a:pPr marL="1079496" lvl="2" indent="-359832" algn="l">
              <a:lnSpc>
                <a:spcPts val="3074"/>
              </a:lnSpc>
              <a:buFont typeface="Arial"/>
              <a:buChar char="⚬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→ </a:t>
            </a:r>
            <a:r>
              <a:rPr lang="en-US" sz="2499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turns per person + AI interventions </a:t>
            </a:r>
          </a:p>
          <a:p>
            <a:pPr marL="539748" lvl="1" indent="-269874" algn="l">
              <a:lnSpc>
                <a:spcPts val="3074"/>
              </a:lnSpc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Discussion summary </a:t>
            </a:r>
          </a:p>
          <a:p>
            <a:pPr marL="1079496" lvl="2" indent="-359832" algn="l">
              <a:lnSpc>
                <a:spcPts val="3074"/>
              </a:lnSpc>
              <a:buFont typeface="Arial"/>
              <a:buChar char="⚬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→ </a:t>
            </a:r>
            <a:r>
              <a:rPr lang="en-US" sz="2499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reworked from running summary</a:t>
            </a: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</a:p>
          <a:p>
            <a:pPr marL="539748" lvl="1" indent="-269874" algn="l">
              <a:lnSpc>
                <a:spcPts val="3074"/>
              </a:lnSpc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Final analysis </a:t>
            </a:r>
          </a:p>
          <a:p>
            <a:pPr marL="1079496" lvl="2" indent="-359832" algn="l">
              <a:lnSpc>
                <a:spcPts val="3074"/>
              </a:lnSpc>
              <a:buFont typeface="Arial"/>
              <a:buChar char="⚬"/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→ </a:t>
            </a:r>
            <a:r>
              <a:rPr lang="en-US" sz="2499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brief commentary on how it went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54794" y="7786997"/>
            <a:ext cx="7224854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</a:p>
          <a:p>
            <a:pPr algn="l">
              <a:lnSpc>
                <a:spcPts val="3074"/>
              </a:lnSpc>
            </a:pPr>
            <a:r>
              <a:rPr lang="en-US" sz="24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Output:</a:t>
            </a:r>
          </a:p>
          <a:p>
            <a:pPr algn="l">
              <a:lnSpc>
                <a:spcPts val="3074"/>
              </a:lnSpc>
            </a:pPr>
            <a:r>
              <a:rPr lang="en-US" sz="2499" b="1" dirty="0">
                <a:solidFill>
                  <a:srgbClr val="FFFFFF"/>
                </a:solidFill>
                <a:latin typeface="TT Interphases Mono Bold"/>
                <a:ea typeface="TT Interphases Mono Bold"/>
                <a:cs typeface="TT Interphases Mono Bold"/>
                <a:sym typeface="TT Interphases Mono Bold"/>
              </a:rPr>
              <a:t> </a:t>
            </a:r>
            <a:r>
              <a:rPr lang="en-US" sz="2499" dirty="0">
                <a:solidFill>
                  <a:srgbClr val="FFFFFF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Plain text (no JSON), 300-500  words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TT Interphases Mono"/>
              <a:ea typeface="TT Interphases Mono"/>
              <a:cs typeface="TT Interphases Mono"/>
              <a:sym typeface="TT Interphases Mon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71505" y="4366375"/>
            <a:ext cx="7093973" cy="239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7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Adapts tone based on reason:</a:t>
            </a:r>
          </a:p>
          <a:p>
            <a:pPr marL="561331" lvl="1" indent="-280665" algn="l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</a:t>
            </a:r>
            <a:r>
              <a:rPr lang="en-US" sz="25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imer_expired </a:t>
            </a:r>
          </a:p>
          <a:p>
            <a:pPr marL="1122662" lvl="2" indent="-374221" algn="l">
              <a:lnSpc>
                <a:spcPts val="3197"/>
              </a:lnSpc>
              <a:spcBef>
                <a:spcPct val="0"/>
              </a:spcBef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→ acknowledges work done despite time limit </a:t>
            </a:r>
          </a:p>
          <a:p>
            <a:pPr marL="561331" lvl="1" indent="-280665" algn="l">
              <a:lnSpc>
                <a:spcPts val="3197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all_participants_ready </a:t>
            </a:r>
          </a:p>
          <a:p>
            <a:pPr marL="1122662" lvl="2" indent="-374221" algn="l">
              <a:lnSpc>
                <a:spcPts val="3197"/>
              </a:lnSpc>
              <a:spcBef>
                <a:spcPct val="0"/>
              </a:spcBef>
              <a:buFont typeface="Arial"/>
              <a:buChar char="⚬"/>
            </a:pPr>
            <a:r>
              <a:rPr lang="en-US" sz="25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→ values their decision to conclude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891960" y="-1315093"/>
            <a:ext cx="16561551" cy="16561551"/>
          </a:xfrm>
          <a:custGeom>
            <a:avLst/>
            <a:gdLst/>
            <a:ahLst/>
            <a:cxnLst/>
            <a:rect l="l" t="t" r="r" b="b"/>
            <a:pathLst>
              <a:path w="16561551" h="16561551">
                <a:moveTo>
                  <a:pt x="16561551" y="0"/>
                </a:moveTo>
                <a:lnTo>
                  <a:pt x="0" y="0"/>
                </a:lnTo>
                <a:lnTo>
                  <a:pt x="0" y="16561551"/>
                </a:lnTo>
                <a:lnTo>
                  <a:pt x="16561551" y="16561551"/>
                </a:lnTo>
                <a:lnTo>
                  <a:pt x="16561551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1343025"/>
            <a:ext cx="14934122" cy="442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0"/>
              </a:lnSpc>
            </a:pPr>
            <a:r>
              <a:rPr lang="en-US" sz="17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VALUE</a:t>
            </a:r>
          </a:p>
          <a:p>
            <a:pPr algn="l">
              <a:lnSpc>
                <a:spcPts val="17000"/>
              </a:lnSpc>
            </a:pPr>
            <a:r>
              <a:rPr lang="en-US" sz="17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PROPOSITION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5039963" cy="7924800"/>
            <a:chOff x="0" y="0"/>
            <a:chExt cx="1327398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24019" y="1028700"/>
            <a:ext cx="5039963" cy="7924800"/>
            <a:chOff x="0" y="0"/>
            <a:chExt cx="132739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16431" y="1028700"/>
            <a:ext cx="5039963" cy="7924800"/>
            <a:chOff x="0" y="0"/>
            <a:chExt cx="1327398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143499"/>
            <a:ext cx="5042869" cy="4219277"/>
            <a:chOff x="0" y="0"/>
            <a:chExt cx="787060" cy="6422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7060" cy="642212"/>
            </a:xfrm>
            <a:custGeom>
              <a:avLst/>
              <a:gdLst/>
              <a:ahLst/>
              <a:cxnLst/>
              <a:rect l="l" t="t" r="r" b="b"/>
              <a:pathLst>
                <a:path w="787060" h="642212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70057"/>
                  </a:lnTo>
                  <a:cubicBezTo>
                    <a:pt x="787060" y="609907"/>
                    <a:pt x="754754" y="642212"/>
                    <a:pt x="714904" y="642212"/>
                  </a:cubicBezTo>
                  <a:lnTo>
                    <a:pt x="72155" y="642212"/>
                  </a:lnTo>
                  <a:cubicBezTo>
                    <a:pt x="32305" y="642212"/>
                    <a:pt x="0" y="609907"/>
                    <a:pt x="0" y="570057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87060" cy="670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16431" y="5143499"/>
            <a:ext cx="5042869" cy="4347765"/>
            <a:chOff x="0" y="0"/>
            <a:chExt cx="787060" cy="6422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7060" cy="642212"/>
            </a:xfrm>
            <a:custGeom>
              <a:avLst/>
              <a:gdLst/>
              <a:ahLst/>
              <a:cxnLst/>
              <a:rect l="l" t="t" r="r" b="b"/>
              <a:pathLst>
                <a:path w="787060" h="642212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70057"/>
                  </a:lnTo>
                  <a:cubicBezTo>
                    <a:pt x="787060" y="609907"/>
                    <a:pt x="754754" y="642212"/>
                    <a:pt x="714904" y="642212"/>
                  </a:cubicBezTo>
                  <a:lnTo>
                    <a:pt x="72155" y="642212"/>
                  </a:lnTo>
                  <a:cubicBezTo>
                    <a:pt x="32305" y="642212"/>
                    <a:pt x="0" y="609907"/>
                    <a:pt x="0" y="570057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87060" cy="670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21113" y="4960413"/>
            <a:ext cx="5042869" cy="4831287"/>
            <a:chOff x="0" y="-28575"/>
            <a:chExt cx="787060" cy="6707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7060" cy="564145"/>
            </a:xfrm>
            <a:custGeom>
              <a:avLst/>
              <a:gdLst/>
              <a:ahLst/>
              <a:cxnLst/>
              <a:rect l="l" t="t" r="r" b="b"/>
              <a:pathLst>
                <a:path w="787060" h="642212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70057"/>
                  </a:lnTo>
                  <a:cubicBezTo>
                    <a:pt x="787060" y="609907"/>
                    <a:pt x="754754" y="642212"/>
                    <a:pt x="714904" y="642212"/>
                  </a:cubicBezTo>
                  <a:lnTo>
                    <a:pt x="72155" y="642212"/>
                  </a:lnTo>
                  <a:cubicBezTo>
                    <a:pt x="32305" y="642212"/>
                    <a:pt x="0" y="609907"/>
                    <a:pt x="0" y="570057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87060" cy="670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561577" y="1602175"/>
            <a:ext cx="1974208" cy="1209202"/>
          </a:xfrm>
          <a:custGeom>
            <a:avLst/>
            <a:gdLst/>
            <a:ahLst/>
            <a:cxnLst/>
            <a:rect l="l" t="t" r="r" b="b"/>
            <a:pathLst>
              <a:path w="1974208" h="1209202">
                <a:moveTo>
                  <a:pt x="0" y="0"/>
                </a:moveTo>
                <a:lnTo>
                  <a:pt x="1974208" y="0"/>
                </a:lnTo>
                <a:lnTo>
                  <a:pt x="1974208" y="1209202"/>
                </a:lnTo>
                <a:lnTo>
                  <a:pt x="0" y="1209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8514132" y="1528895"/>
            <a:ext cx="1256829" cy="1321713"/>
          </a:xfrm>
          <a:custGeom>
            <a:avLst/>
            <a:gdLst/>
            <a:ahLst/>
            <a:cxnLst/>
            <a:rect l="l" t="t" r="r" b="b"/>
            <a:pathLst>
              <a:path w="1256829" h="1321713">
                <a:moveTo>
                  <a:pt x="0" y="0"/>
                </a:moveTo>
                <a:lnTo>
                  <a:pt x="1256830" y="0"/>
                </a:lnTo>
                <a:lnTo>
                  <a:pt x="1256830" y="1321713"/>
                </a:lnTo>
                <a:lnTo>
                  <a:pt x="0" y="1321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13696224" y="1566464"/>
            <a:ext cx="1970191" cy="1280624"/>
          </a:xfrm>
          <a:custGeom>
            <a:avLst/>
            <a:gdLst/>
            <a:ahLst/>
            <a:cxnLst/>
            <a:rect l="l" t="t" r="r" b="b"/>
            <a:pathLst>
              <a:path w="1970191" h="1280624">
                <a:moveTo>
                  <a:pt x="0" y="0"/>
                </a:moveTo>
                <a:lnTo>
                  <a:pt x="1970191" y="0"/>
                </a:lnTo>
                <a:lnTo>
                  <a:pt x="1970191" y="1280624"/>
                </a:lnTo>
                <a:lnTo>
                  <a:pt x="0" y="128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480504" y="3375470"/>
            <a:ext cx="4136354" cy="121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Participation Balance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Focus &amp; Alignment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Reduced Social Friction</a:t>
            </a:r>
          </a:p>
          <a:p>
            <a:pPr algn="l">
              <a:lnSpc>
                <a:spcPts val="2470"/>
              </a:lnSpc>
            </a:pPr>
            <a:endParaRPr lang="en-US" sz="19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81957" y="5416105"/>
            <a:ext cx="4136354" cy="212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Equitable speaking opportunities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Prevention of monopolization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Periodic alignment through summaries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Transparent participation tracking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More democratic discussions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8268" y="2936333"/>
            <a:ext cx="280082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VALUE FOR USERS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62083" y="3515804"/>
            <a:ext cx="4160929" cy="182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Voice-first moderation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Proactive AI intervention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Structured state management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Task-aware facilitation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Balanced automation</a:t>
            </a:r>
          </a:p>
          <a:p>
            <a:pPr algn="l">
              <a:lnSpc>
                <a:spcPts val="2470"/>
              </a:lnSpc>
            </a:pPr>
            <a:endParaRPr lang="en-US" sz="19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63536" y="5416105"/>
            <a:ext cx="4160929" cy="273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Real-time voice integration (ASR + LLM + TTS)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Context-aware moderation logic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Explicit turn tracking &amp; state storage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Controlled AI intervention (cooldown + triggers)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Structure without replacing human agency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15134" y="2936333"/>
            <a:ext cx="425482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WHY A GOOD SOLUTION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54581" y="3624580"/>
            <a:ext cx="4053475" cy="151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Video Conferencing Platforms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Transcription Services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Conversation Intelligence Tool</a:t>
            </a:r>
          </a:p>
          <a:p>
            <a:pPr algn="l">
              <a:lnSpc>
                <a:spcPts val="2470"/>
              </a:lnSpc>
            </a:pPr>
            <a:endParaRPr lang="en-US" sz="19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711128" y="5416105"/>
            <a:ext cx="4053475" cy="304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 competitor integrates voice + active moderation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Others are infrastructure-only or passive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 structured turn management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 real-time participation balancing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AIutami</a:t>
            </a:r>
            <a:r>
              <a:rPr lang="en-US" sz="19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shapes conversations live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93169" y="2999706"/>
            <a:ext cx="448939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891960" y="-1315093"/>
            <a:ext cx="16561551" cy="16561551"/>
          </a:xfrm>
          <a:custGeom>
            <a:avLst/>
            <a:gdLst/>
            <a:ahLst/>
            <a:cxnLst/>
            <a:rect l="l" t="t" r="r" b="b"/>
            <a:pathLst>
              <a:path w="16561551" h="16561551">
                <a:moveTo>
                  <a:pt x="16561551" y="0"/>
                </a:moveTo>
                <a:lnTo>
                  <a:pt x="0" y="0"/>
                </a:lnTo>
                <a:lnTo>
                  <a:pt x="0" y="16561551"/>
                </a:lnTo>
                <a:lnTo>
                  <a:pt x="16561551" y="16561551"/>
                </a:lnTo>
                <a:lnTo>
                  <a:pt x="16561551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1343025"/>
            <a:ext cx="16901943" cy="657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0"/>
              </a:lnSpc>
            </a:pPr>
            <a:r>
              <a:rPr lang="en-US" sz="17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DISCUSSIO</a:t>
            </a:r>
          </a:p>
          <a:p>
            <a:pPr algn="l">
              <a:lnSpc>
                <a:spcPts val="17000"/>
              </a:lnSpc>
            </a:pPr>
            <a:r>
              <a:rPr lang="en-US" sz="17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AND</a:t>
            </a:r>
          </a:p>
          <a:p>
            <a:pPr algn="l">
              <a:lnSpc>
                <a:spcPts val="17000"/>
              </a:lnSpc>
            </a:pPr>
            <a:r>
              <a:rPr lang="en-US" sz="170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FUTURE WORK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5039963" cy="8229600"/>
            <a:chOff x="0" y="0"/>
            <a:chExt cx="1327398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24019" y="1028700"/>
            <a:ext cx="5039963" cy="8229600"/>
            <a:chOff x="0" y="0"/>
            <a:chExt cx="132739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16431" y="1028700"/>
            <a:ext cx="5039963" cy="8229600"/>
            <a:chOff x="0" y="0"/>
            <a:chExt cx="1327398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7398" cy="2167467"/>
            </a:xfrm>
            <a:custGeom>
              <a:avLst/>
              <a:gdLst/>
              <a:ahLst/>
              <a:cxnLst/>
              <a:rect l="l" t="t" r="r" b="b"/>
              <a:pathLst>
                <a:path w="1327398" h="2167467">
                  <a:moveTo>
                    <a:pt x="78341" y="0"/>
                  </a:moveTo>
                  <a:lnTo>
                    <a:pt x="1249056" y="0"/>
                  </a:lnTo>
                  <a:cubicBezTo>
                    <a:pt x="1292323" y="0"/>
                    <a:pt x="1327398" y="35075"/>
                    <a:pt x="1327398" y="78341"/>
                  </a:cubicBezTo>
                  <a:lnTo>
                    <a:pt x="1327398" y="2089125"/>
                  </a:lnTo>
                  <a:cubicBezTo>
                    <a:pt x="1327398" y="2109903"/>
                    <a:pt x="1319144" y="2129829"/>
                    <a:pt x="1304452" y="2144521"/>
                  </a:cubicBezTo>
                  <a:cubicBezTo>
                    <a:pt x="1289760" y="2159213"/>
                    <a:pt x="1269834" y="2167467"/>
                    <a:pt x="1249056" y="2167467"/>
                  </a:cubicBezTo>
                  <a:lnTo>
                    <a:pt x="78341" y="2167467"/>
                  </a:lnTo>
                  <a:cubicBezTo>
                    <a:pt x="57564" y="2167467"/>
                    <a:pt x="37638" y="2159213"/>
                    <a:pt x="22946" y="2144521"/>
                  </a:cubicBezTo>
                  <a:cubicBezTo>
                    <a:pt x="8254" y="2129829"/>
                    <a:pt x="0" y="2109903"/>
                    <a:pt x="0" y="2089125"/>
                  </a:cubicBezTo>
                  <a:lnTo>
                    <a:pt x="0" y="78341"/>
                  </a:lnTo>
                  <a:cubicBezTo>
                    <a:pt x="0" y="57564"/>
                    <a:pt x="8254" y="37638"/>
                    <a:pt x="22946" y="22946"/>
                  </a:cubicBezTo>
                  <a:cubicBezTo>
                    <a:pt x="37638" y="8254"/>
                    <a:pt x="57564" y="0"/>
                    <a:pt x="7834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27398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027739"/>
            <a:ext cx="5042869" cy="4713442"/>
            <a:chOff x="0" y="0"/>
            <a:chExt cx="787060" cy="660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7060" cy="660280"/>
            </a:xfrm>
            <a:custGeom>
              <a:avLst/>
              <a:gdLst/>
              <a:ahLst/>
              <a:cxnLst/>
              <a:rect l="l" t="t" r="r" b="b"/>
              <a:pathLst>
                <a:path w="787060" h="660280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88124"/>
                  </a:lnTo>
                  <a:cubicBezTo>
                    <a:pt x="787060" y="627974"/>
                    <a:pt x="754754" y="660280"/>
                    <a:pt x="714904" y="660280"/>
                  </a:cubicBezTo>
                  <a:lnTo>
                    <a:pt x="72155" y="660280"/>
                  </a:lnTo>
                  <a:cubicBezTo>
                    <a:pt x="32305" y="660280"/>
                    <a:pt x="0" y="627974"/>
                    <a:pt x="0" y="588124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87060" cy="688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16431" y="5034724"/>
            <a:ext cx="5042869" cy="5252276"/>
            <a:chOff x="0" y="0"/>
            <a:chExt cx="787060" cy="6591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7060" cy="659189"/>
            </a:xfrm>
            <a:custGeom>
              <a:avLst/>
              <a:gdLst/>
              <a:ahLst/>
              <a:cxnLst/>
              <a:rect l="l" t="t" r="r" b="b"/>
              <a:pathLst>
                <a:path w="787060" h="659189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87034"/>
                  </a:lnTo>
                  <a:cubicBezTo>
                    <a:pt x="787060" y="626884"/>
                    <a:pt x="754754" y="659189"/>
                    <a:pt x="714904" y="659189"/>
                  </a:cubicBezTo>
                  <a:lnTo>
                    <a:pt x="72155" y="659189"/>
                  </a:lnTo>
                  <a:cubicBezTo>
                    <a:pt x="32305" y="659189"/>
                    <a:pt x="0" y="626884"/>
                    <a:pt x="0" y="587034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87060" cy="687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21113" y="5034723"/>
            <a:ext cx="5042869" cy="4706457"/>
            <a:chOff x="0" y="0"/>
            <a:chExt cx="787060" cy="6591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7060" cy="659189"/>
            </a:xfrm>
            <a:custGeom>
              <a:avLst/>
              <a:gdLst/>
              <a:ahLst/>
              <a:cxnLst/>
              <a:rect l="l" t="t" r="r" b="b"/>
              <a:pathLst>
                <a:path w="787060" h="659189">
                  <a:moveTo>
                    <a:pt x="72155" y="0"/>
                  </a:moveTo>
                  <a:lnTo>
                    <a:pt x="714904" y="0"/>
                  </a:lnTo>
                  <a:cubicBezTo>
                    <a:pt x="754754" y="0"/>
                    <a:pt x="787060" y="32305"/>
                    <a:pt x="787060" y="72155"/>
                  </a:cubicBezTo>
                  <a:lnTo>
                    <a:pt x="787060" y="587034"/>
                  </a:lnTo>
                  <a:cubicBezTo>
                    <a:pt x="787060" y="626884"/>
                    <a:pt x="754754" y="659189"/>
                    <a:pt x="714904" y="659189"/>
                  </a:cubicBezTo>
                  <a:lnTo>
                    <a:pt x="72155" y="659189"/>
                  </a:lnTo>
                  <a:cubicBezTo>
                    <a:pt x="32305" y="659189"/>
                    <a:pt x="0" y="626884"/>
                    <a:pt x="0" y="587034"/>
                  </a:cubicBezTo>
                  <a:lnTo>
                    <a:pt x="0" y="72155"/>
                  </a:lnTo>
                  <a:cubicBezTo>
                    <a:pt x="0" y="32305"/>
                    <a:pt x="32305" y="0"/>
                    <a:pt x="72155" y="0"/>
                  </a:cubicBezTo>
                  <a:close/>
                </a:path>
              </a:pathLst>
            </a:custGeom>
            <a:solidFill>
              <a:srgbClr val="5E7D9C">
                <a:alpha val="4980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87060" cy="687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89604" y="1511581"/>
            <a:ext cx="3118155" cy="1390390"/>
          </a:xfrm>
          <a:custGeom>
            <a:avLst/>
            <a:gdLst/>
            <a:ahLst/>
            <a:cxnLst/>
            <a:rect l="l" t="t" r="r" b="b"/>
            <a:pathLst>
              <a:path w="3118155" h="1390390">
                <a:moveTo>
                  <a:pt x="0" y="0"/>
                </a:moveTo>
                <a:lnTo>
                  <a:pt x="3118155" y="0"/>
                </a:lnTo>
                <a:lnTo>
                  <a:pt x="3118155" y="1390390"/>
                </a:lnTo>
                <a:lnTo>
                  <a:pt x="0" y="1390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544" t="-31033" r="-24516" b="-9168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7920679" y="1804008"/>
            <a:ext cx="2446643" cy="1097963"/>
          </a:xfrm>
          <a:custGeom>
            <a:avLst/>
            <a:gdLst/>
            <a:ahLst/>
            <a:cxnLst/>
            <a:rect l="l" t="t" r="r" b="b"/>
            <a:pathLst>
              <a:path w="2446643" h="1097963">
                <a:moveTo>
                  <a:pt x="0" y="0"/>
                </a:moveTo>
                <a:lnTo>
                  <a:pt x="2446642" y="0"/>
                </a:lnTo>
                <a:lnTo>
                  <a:pt x="2446642" y="1097963"/>
                </a:lnTo>
                <a:lnTo>
                  <a:pt x="0" y="1097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226" t="-55437" r="-26421" b="-8306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12974198" y="1904744"/>
            <a:ext cx="3414242" cy="1041114"/>
          </a:xfrm>
          <a:custGeom>
            <a:avLst/>
            <a:gdLst/>
            <a:ahLst/>
            <a:cxnLst/>
            <a:rect l="l" t="t" r="r" b="b"/>
            <a:pathLst>
              <a:path w="3414242" h="1041114">
                <a:moveTo>
                  <a:pt x="0" y="0"/>
                </a:moveTo>
                <a:lnTo>
                  <a:pt x="3414242" y="0"/>
                </a:lnTo>
                <a:lnTo>
                  <a:pt x="3414242" y="1041114"/>
                </a:lnTo>
                <a:lnTo>
                  <a:pt x="0" y="104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848" t="-114924" r="-29536" b="-13550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480504" y="3488783"/>
            <a:ext cx="4136354" cy="151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Audio pipeline complexity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AI intervention calibration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Real-time component integration</a:t>
            </a:r>
          </a:p>
          <a:p>
            <a:pPr algn="l">
              <a:lnSpc>
                <a:spcPts val="2470"/>
              </a:lnSpc>
            </a:pPr>
            <a:endParaRPr lang="en-US" sz="19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95953" y="5365115"/>
            <a:ext cx="4308364" cy="365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WebRTC + ASR integration requires precise audio normalization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Sample-rate mismatch can compromise voice quality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AI activity must be carefully balanced (cooldown + triggers)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Separation of Redis (ephemeral) and PostgreSQL (persistent) is effective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Real-time AI systems demand tight orchestration across modules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45278" y="2936333"/>
            <a:ext cx="340971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CRITICAL REFLECTION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62083" y="3488783"/>
            <a:ext cx="4160929" cy="151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Single-server architecture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Scenario-specific moderation logic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Cloud service dependenc</a:t>
            </a:r>
          </a:p>
          <a:p>
            <a:pPr algn="l">
              <a:lnSpc>
                <a:spcPts val="2470"/>
              </a:lnSpc>
            </a:pPr>
            <a:endParaRPr lang="en-US" sz="19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63536" y="5416105"/>
            <a:ext cx="4160929" cy="243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Limited horizontal scalability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Tailored to Murder Mystery context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Dependence on Azure services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Latency tied to LLM response time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External processing of audio data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15134" y="2936333"/>
            <a:ext cx="425482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LIMITATIONS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54581" y="3523581"/>
            <a:ext cx="4053475" cy="90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Context generalization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Adaptive AI moderation</a:t>
            </a:r>
          </a:p>
          <a:p>
            <a:pPr algn="l">
              <a:lnSpc>
                <a:spcPts val="2470"/>
              </a:lnSpc>
            </a:pPr>
            <a:endParaRPr lang="en-US" sz="19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711128" y="5416105"/>
            <a:ext cx="4053475" cy="243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Configurable moderation profiles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Multi-context session templates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Adaptive intervention thresholds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Learning from session outcomes</a:t>
            </a:r>
          </a:p>
          <a:p>
            <a:pPr marL="410211" lvl="1" indent="-205106" algn="l">
              <a:lnSpc>
                <a:spcPts val="247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Participant feedback integration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93169" y="2999706"/>
            <a:ext cx="448939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FUTURE DEVELOPMENTS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8493" y="8679706"/>
            <a:ext cx="3288849" cy="1157188"/>
          </a:xfrm>
          <a:custGeom>
            <a:avLst/>
            <a:gdLst/>
            <a:ahLst/>
            <a:cxnLst/>
            <a:rect l="l" t="t" r="r" b="b"/>
            <a:pathLst>
              <a:path w="3288849" h="1157188">
                <a:moveTo>
                  <a:pt x="0" y="0"/>
                </a:moveTo>
                <a:lnTo>
                  <a:pt x="3288849" y="0"/>
                </a:lnTo>
                <a:lnTo>
                  <a:pt x="3288849" y="1157188"/>
                </a:lnTo>
                <a:lnTo>
                  <a:pt x="0" y="1157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4069565" y="8679706"/>
            <a:ext cx="4898563" cy="1249134"/>
          </a:xfrm>
          <a:custGeom>
            <a:avLst/>
            <a:gdLst/>
            <a:ahLst/>
            <a:cxnLst/>
            <a:rect l="l" t="t" r="r" b="b"/>
            <a:pathLst>
              <a:path w="4898563" h="1249134">
                <a:moveTo>
                  <a:pt x="0" y="0"/>
                </a:moveTo>
                <a:lnTo>
                  <a:pt x="4898563" y="0"/>
                </a:lnTo>
                <a:lnTo>
                  <a:pt x="4898563" y="1249134"/>
                </a:lnTo>
                <a:lnTo>
                  <a:pt x="0" y="1249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8362733" y="4665596"/>
            <a:ext cx="1562533" cy="197208"/>
            <a:chOff x="0" y="0"/>
            <a:chExt cx="411531" cy="519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531" cy="51939"/>
            </a:xfrm>
            <a:custGeom>
              <a:avLst/>
              <a:gdLst/>
              <a:ahLst/>
              <a:cxnLst/>
              <a:rect l="l" t="t" r="r" b="b"/>
              <a:pathLst>
                <a:path w="411531" h="51939">
                  <a:moveTo>
                    <a:pt x="0" y="0"/>
                  </a:moveTo>
                  <a:lnTo>
                    <a:pt x="411531" y="0"/>
                  </a:lnTo>
                  <a:lnTo>
                    <a:pt x="411531" y="51939"/>
                  </a:lnTo>
                  <a:lnTo>
                    <a:pt x="0" y="5193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11531" cy="90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233852" y="2851546"/>
            <a:ext cx="5820296" cy="170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9"/>
              </a:lnSpc>
              <a:spcBef>
                <a:spcPct val="0"/>
              </a:spcBef>
            </a:pPr>
            <a:r>
              <a:rPr lang="en-US" sz="119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94587" y="5659644"/>
            <a:ext cx="4898827" cy="674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4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Team: </a:t>
            </a:r>
            <a:r>
              <a:rPr lang="en-US" sz="4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8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58343" y="6631647"/>
            <a:ext cx="13371314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Simone Cosenza, Sara Imparato, Salvatore Pio Conte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73719" y="8996154"/>
            <a:ext cx="2914650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AUI 2025-2026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endParaRPr lang="en-US" sz="31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1021</Words>
  <Application>Microsoft Office PowerPoint</Application>
  <PresentationFormat>Personalizzato</PresentationFormat>
  <Paragraphs>265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31" baseType="lpstr">
      <vt:lpstr>Poppins</vt:lpstr>
      <vt:lpstr>Open Sans 1 Bold</vt:lpstr>
      <vt:lpstr>TT Interphases Mono Bold</vt:lpstr>
      <vt:lpstr>Open Sans 2</vt:lpstr>
      <vt:lpstr>Open Sans 2 Bold</vt:lpstr>
      <vt:lpstr>Arial</vt:lpstr>
      <vt:lpstr>Arimo</vt:lpstr>
      <vt:lpstr>Calibri</vt:lpstr>
      <vt:lpstr>TT Interphases Mono</vt:lpstr>
      <vt:lpstr>Poppins Bold</vt:lpstr>
      <vt:lpstr>Open Sans 1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</dc:title>
  <cp:lastModifiedBy>Sara Imparato</cp:lastModifiedBy>
  <cp:revision>2</cp:revision>
  <dcterms:created xsi:type="dcterms:W3CDTF">2006-08-16T00:00:00Z</dcterms:created>
  <dcterms:modified xsi:type="dcterms:W3CDTF">2026-02-12T15:59:07Z</dcterms:modified>
  <dc:identifier>DAHBDQlh6Vc</dc:identifier>
</cp:coreProperties>
</file>